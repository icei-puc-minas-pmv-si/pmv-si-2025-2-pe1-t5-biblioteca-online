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6" r:id="rId9"/>
    <p:sldId id="261" r:id="rId10"/>
    <p:sldId id="262" r:id="rId11"/>
    <p:sldId id="265" r:id="rId1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87268-3A0E-5FC8-4B74-509A215D6FF1}" v="580" dt="2025-12-03T15:32:51.108"/>
    <p1510:client id="{229CDB18-CF38-2AF8-4832-32DA5F38A86C}" v="1103" dt="2025-12-03T01:01:00.323"/>
    <p1510:client id="{55094DBF-0D2C-C7E1-3B2F-B26550DA4622}" v="36" dt="2025-12-04T00:21:30.035"/>
    <p1510:client id="{6034F066-4480-D9FE-E2C6-31157E26D9E0}" v="34" dt="2025-12-03T00:22:20.968"/>
    <p1510:client id="{657BAA0C-5991-65D3-9F5C-E4D40B8D4BE4}" v="138" dt="2025-12-03T22:57:33.912"/>
    <p1510:client id="{7205CDCE-6701-C70B-B269-10A8CF435602}" v="183" dt="2025-12-03T09:09:11.228"/>
    <p1510:client id="{94255476-0141-577A-C86C-4ECC89D4AD1E}" v="377" dt="2025-12-04T00:29:26.406"/>
    <p1510:client id="{A9A990B1-652A-36C0-3C0A-F24DFE4C2C70}" v="2" dt="2025-12-04T00:20:31.955"/>
    <p1510:client id="{AA7B2058-51D6-8F6A-0E04-49A89A8C77EA}" v="301" dt="2025-12-03T17:41:47.614"/>
    <p1510:client id="{F52B3D91-9300-E778-6D91-D38791B02E17}" v="221" dt="2025-12-03T17:07:57.881"/>
    <p1510:client id="{F91B24B1-AA72-1BE7-4A30-C2AE86442190}" v="9" dt="2025-12-03T18:08:44.66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t>Aluno</a:t>
            </a:r>
            <a:r>
              <a:rPr spc="-15"/>
              <a:t> </a:t>
            </a:r>
            <a:r>
              <a:t>1,</a:t>
            </a:r>
            <a:r>
              <a:rPr spc="-15"/>
              <a:t> </a:t>
            </a:r>
            <a:r>
              <a:rPr spc="-10"/>
              <a:t>Aluno2,</a:t>
            </a:r>
            <a:r>
              <a:rPr spc="-15"/>
              <a:t> </a:t>
            </a:r>
            <a:r>
              <a:t>Aluno</a:t>
            </a:r>
            <a:r>
              <a:rPr spc="-15"/>
              <a:t> </a:t>
            </a:r>
            <a:r>
              <a:rPr spc="-6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t>Aluno</a:t>
            </a:r>
            <a:r>
              <a:rPr spc="-15"/>
              <a:t> </a:t>
            </a:r>
            <a:r>
              <a:t>1,</a:t>
            </a:r>
            <a:r>
              <a:rPr spc="-15"/>
              <a:t> </a:t>
            </a:r>
            <a:r>
              <a:rPr spc="-10"/>
              <a:t>Aluno2,</a:t>
            </a:r>
            <a:r>
              <a:rPr spc="-15"/>
              <a:t> </a:t>
            </a:r>
            <a:r>
              <a:t>Aluno</a:t>
            </a:r>
            <a:r>
              <a:rPr spc="-15"/>
              <a:t> </a:t>
            </a:r>
            <a:r>
              <a:rPr spc="-6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t>Aluno</a:t>
            </a:r>
            <a:r>
              <a:rPr spc="-15"/>
              <a:t> </a:t>
            </a:r>
            <a:r>
              <a:t>1,</a:t>
            </a:r>
            <a:r>
              <a:rPr spc="-15"/>
              <a:t> </a:t>
            </a:r>
            <a:r>
              <a:rPr spc="-10"/>
              <a:t>Aluno2,</a:t>
            </a:r>
            <a:r>
              <a:rPr spc="-15"/>
              <a:t> </a:t>
            </a:r>
            <a:r>
              <a:t>Aluno</a:t>
            </a:r>
            <a:r>
              <a:rPr spc="-15"/>
              <a:t> </a:t>
            </a:r>
            <a:r>
              <a:rPr spc="-60"/>
              <a:t>3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t>Aluno</a:t>
            </a:r>
            <a:r>
              <a:rPr spc="-15"/>
              <a:t> </a:t>
            </a:r>
            <a:r>
              <a:t>1,</a:t>
            </a:r>
            <a:r>
              <a:rPr spc="-15"/>
              <a:t> </a:t>
            </a:r>
            <a:r>
              <a:rPr spc="-10"/>
              <a:t>Aluno2,</a:t>
            </a:r>
            <a:r>
              <a:rPr spc="-15"/>
              <a:t> </a:t>
            </a:r>
            <a:r>
              <a:t>Aluno</a:t>
            </a:r>
            <a:r>
              <a:rPr spc="-15"/>
              <a:t> </a:t>
            </a:r>
            <a:r>
              <a:rPr spc="-60"/>
              <a:t>3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t>Aluno</a:t>
            </a:r>
            <a:r>
              <a:rPr spc="-15"/>
              <a:t> </a:t>
            </a:r>
            <a:r>
              <a:t>1,</a:t>
            </a:r>
            <a:r>
              <a:rPr spc="-15"/>
              <a:t> </a:t>
            </a:r>
            <a:r>
              <a:rPr spc="-10"/>
              <a:t>Aluno2,</a:t>
            </a:r>
            <a:r>
              <a:rPr spc="-15"/>
              <a:t> </a:t>
            </a:r>
            <a:r>
              <a:t>Aluno</a:t>
            </a:r>
            <a:r>
              <a:rPr spc="-15"/>
              <a:t> </a:t>
            </a:r>
            <a:r>
              <a:rPr spc="-60"/>
              <a:t>3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363220"/>
          </a:xfrm>
          <a:custGeom>
            <a:avLst/>
            <a:gdLst/>
            <a:ahLst/>
            <a:cxnLst/>
            <a:rect l="l" t="t" r="r" b="b"/>
            <a:pathLst>
              <a:path w="2304415" h="363220">
                <a:moveTo>
                  <a:pt x="2303995" y="0"/>
                </a:moveTo>
                <a:lnTo>
                  <a:pt x="0" y="0"/>
                </a:lnTo>
                <a:lnTo>
                  <a:pt x="0" y="362788"/>
                </a:lnTo>
                <a:lnTo>
                  <a:pt x="2303995" y="362788"/>
                </a:lnTo>
                <a:lnTo>
                  <a:pt x="230399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994" y="648773"/>
            <a:ext cx="3989704" cy="476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347711" y="3326286"/>
            <a:ext cx="861060" cy="119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t>Aluno</a:t>
            </a:r>
            <a:r>
              <a:rPr spc="-15"/>
              <a:t> </a:t>
            </a:r>
            <a:r>
              <a:t>1,</a:t>
            </a:r>
            <a:r>
              <a:rPr spc="-15"/>
              <a:t> </a:t>
            </a:r>
            <a:r>
              <a:rPr spc="-10"/>
              <a:t>Aluno2,</a:t>
            </a:r>
            <a:r>
              <a:rPr spc="-15"/>
              <a:t> </a:t>
            </a:r>
            <a:r>
              <a:t>Aluno</a:t>
            </a:r>
            <a:r>
              <a:rPr spc="-15"/>
              <a:t> </a:t>
            </a:r>
            <a:r>
              <a:rPr spc="-60"/>
              <a:t>3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" Target="slide5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slide" Target="slide7.xml"/><Relationship Id="rId2" Type="http://schemas.openxmlformats.org/officeDocument/2006/relationships/slide" Target="slide3.xml"/><Relationship Id="rId16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slide" Target="slide4.xml"/><Relationship Id="rId10" Type="http://schemas.openxmlformats.org/officeDocument/2006/relationships/image" Target="../media/image7.png"/><Relationship Id="rId4" Type="http://schemas.openxmlformats.org/officeDocument/2006/relationships/slide" Target="slide8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image" Target="../media/image1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image" Target="../media/image1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image" Target="../media/image1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" Target="slide8.xml"/><Relationship Id="rId7" Type="http://schemas.openxmlformats.org/officeDocument/2006/relationships/image" Target="../media/image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slide" Target="slide8.xml"/><Relationship Id="rId7" Type="http://schemas.openxmlformats.org/officeDocument/2006/relationships/image" Target="../media/image2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5" Type="http://schemas.openxmlformats.org/officeDocument/2006/relationships/slide" Target="slide6.xml"/><Relationship Id="rId4" Type="http://schemas.openxmlformats.org/officeDocument/2006/relationships/slide" Target="slide5.xml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image" Target="../media/image18.png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4657" y="-16363"/>
            <a:ext cx="654685" cy="33502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248920" algn="r">
              <a:lnSpc>
                <a:spcPct val="119700"/>
              </a:lnSpc>
              <a:spcBef>
                <a:spcPts val="100"/>
              </a:spcBef>
            </a:pPr>
            <a:r>
              <a:rPr lang="pt-BR" sz="600" spc="-10">
                <a:solidFill>
                  <a:srgbClr val="7F7F7F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Projeto</a:t>
            </a:r>
            <a:r>
              <a:rPr sz="600" spc="-25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do</a:t>
            </a:r>
            <a:r>
              <a:rPr sz="600" spc="-2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 spc="-1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sistema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lang="en-US" sz="600" spc="-10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Desenvolvimento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414020"/>
            <a:chOff x="0" y="0"/>
            <a:chExt cx="4608195" cy="414020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363220"/>
            </a:xfrm>
            <a:custGeom>
              <a:avLst/>
              <a:gdLst/>
              <a:ahLst/>
              <a:cxnLst/>
              <a:rect l="l" t="t" r="r" b="b"/>
              <a:pathLst>
                <a:path w="2304415" h="363220">
                  <a:moveTo>
                    <a:pt x="2303995" y="0"/>
                  </a:moveTo>
                  <a:lnTo>
                    <a:pt x="0" y="0"/>
                  </a:lnTo>
                  <a:lnTo>
                    <a:pt x="0" y="362788"/>
                  </a:lnTo>
                  <a:lnTo>
                    <a:pt x="2303995" y="362788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362788"/>
              <a:ext cx="4608195" cy="50800"/>
            </a:xfrm>
            <a:custGeom>
              <a:avLst/>
              <a:gdLst/>
              <a:ahLst/>
              <a:cxnLst/>
              <a:rect l="l" t="t" r="r" b="b"/>
              <a:pathLst>
                <a:path w="4608195" h="50800">
                  <a:moveTo>
                    <a:pt x="4608060" y="0"/>
                  </a:moveTo>
                  <a:lnTo>
                    <a:pt x="0" y="0"/>
                  </a:lnTo>
                  <a:lnTo>
                    <a:pt x="0" y="50610"/>
                  </a:lnTo>
                  <a:lnTo>
                    <a:pt x="4608060" y="50610"/>
                  </a:lnTo>
                  <a:lnTo>
                    <a:pt x="46080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09193" y="585520"/>
            <a:ext cx="4040504" cy="539750"/>
            <a:chOff x="309193" y="585520"/>
            <a:chExt cx="4040504" cy="539750"/>
          </a:xfrm>
        </p:grpSpPr>
        <p:sp>
          <p:nvSpPr>
            <p:cNvPr id="7" name="object 7"/>
            <p:cNvSpPr/>
            <p:nvPr/>
          </p:nvSpPr>
          <p:spPr>
            <a:xfrm>
              <a:off x="309193" y="585520"/>
              <a:ext cx="3989704" cy="82550"/>
            </a:xfrm>
            <a:custGeom>
              <a:avLst/>
              <a:gdLst/>
              <a:ahLst/>
              <a:cxnLst/>
              <a:rect l="l" t="t" r="r" b="b"/>
              <a:pathLst>
                <a:path w="3989704" h="82550">
                  <a:moveTo>
                    <a:pt x="3938852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3989652" y="82384"/>
                  </a:lnTo>
                  <a:lnTo>
                    <a:pt x="3989652" y="50800"/>
                  </a:lnTo>
                  <a:lnTo>
                    <a:pt x="3985644" y="31075"/>
                  </a:lnTo>
                  <a:lnTo>
                    <a:pt x="3974729" y="14922"/>
                  </a:lnTo>
                  <a:lnTo>
                    <a:pt x="3958576" y="4008"/>
                  </a:lnTo>
                  <a:lnTo>
                    <a:pt x="3938852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9994" y="648773"/>
              <a:ext cx="3989704" cy="476884"/>
            </a:xfrm>
            <a:custGeom>
              <a:avLst/>
              <a:gdLst/>
              <a:ahLst/>
              <a:cxnLst/>
              <a:rect l="l" t="t" r="r" b="b"/>
              <a:pathLst>
                <a:path w="3989704" h="476884">
                  <a:moveTo>
                    <a:pt x="3989652" y="0"/>
                  </a:moveTo>
                  <a:lnTo>
                    <a:pt x="0" y="0"/>
                  </a:lnTo>
                  <a:lnTo>
                    <a:pt x="0" y="476498"/>
                  </a:lnTo>
                  <a:lnTo>
                    <a:pt x="3989652" y="476498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9193" y="629937"/>
              <a:ext cx="3989704" cy="445134"/>
            </a:xfrm>
            <a:custGeom>
              <a:avLst/>
              <a:gdLst/>
              <a:ahLst/>
              <a:cxnLst/>
              <a:rect l="l" t="t" r="r" b="b"/>
              <a:pathLst>
                <a:path w="3989704" h="445134">
                  <a:moveTo>
                    <a:pt x="3989652" y="0"/>
                  </a:moveTo>
                  <a:lnTo>
                    <a:pt x="0" y="0"/>
                  </a:lnTo>
                  <a:lnTo>
                    <a:pt x="0" y="393733"/>
                  </a:lnTo>
                  <a:lnTo>
                    <a:pt x="4008" y="413458"/>
                  </a:lnTo>
                  <a:lnTo>
                    <a:pt x="14922" y="429611"/>
                  </a:lnTo>
                  <a:lnTo>
                    <a:pt x="31075" y="440525"/>
                  </a:lnTo>
                  <a:lnTo>
                    <a:pt x="50800" y="444534"/>
                  </a:lnTo>
                  <a:lnTo>
                    <a:pt x="3938852" y="444534"/>
                  </a:lnTo>
                  <a:lnTo>
                    <a:pt x="3958576" y="440525"/>
                  </a:lnTo>
                  <a:lnTo>
                    <a:pt x="3974729" y="429611"/>
                  </a:lnTo>
                  <a:lnTo>
                    <a:pt x="3985644" y="413458"/>
                  </a:lnTo>
                  <a:lnTo>
                    <a:pt x="3989652" y="393733"/>
                  </a:lnTo>
                  <a:lnTo>
                    <a:pt x="3989652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08662" y="667437"/>
            <a:ext cx="3989704" cy="279564"/>
          </a:xfrm>
          <a:prstGeom prst="rect">
            <a:avLst/>
          </a:prstGeom>
        </p:spPr>
        <p:txBody>
          <a:bodyPr vert="horz" wrap="square" lIns="0" tIns="63500" rIns="0" bIns="0" rtlCol="0" anchor="t">
            <a:spAutoFit/>
          </a:bodyPr>
          <a:lstStyle/>
          <a:p>
            <a:pPr marL="1113155" algn="l">
              <a:spcBef>
                <a:spcPts val="500"/>
              </a:spcBef>
            </a:pPr>
            <a:r>
              <a:rPr lang="pt-BR" spc="-10" err="1"/>
              <a:t>LêUai</a:t>
            </a:r>
            <a:r>
              <a:rPr lang="pt-BR" spc="-10"/>
              <a:t> – Biblioteca Digital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1616" y="1193745"/>
            <a:ext cx="3153740" cy="1176284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 indent="19050" algn="ctr">
              <a:lnSpc>
                <a:spcPct val="102600"/>
              </a:lnSpc>
              <a:spcBef>
                <a:spcPts val="55"/>
              </a:spcBef>
            </a:pPr>
            <a:r>
              <a:rPr lang="en-US" sz="1100" spc="-60">
                <a:latin typeface="Arial MT"/>
                <a:cs typeface="Arial MT"/>
              </a:rPr>
              <a:t>Bruno Felipe Gomes</a:t>
            </a:r>
          </a:p>
          <a:p>
            <a:pPr marL="12700" marR="5080" indent="19050" algn="ctr">
              <a:lnSpc>
                <a:spcPct val="102600"/>
              </a:lnSpc>
              <a:spcBef>
                <a:spcPts val="55"/>
              </a:spcBef>
            </a:pPr>
            <a:r>
              <a:rPr lang="en-US" sz="1100" spc="-60">
                <a:latin typeface="Arial MT"/>
                <a:cs typeface="Arial MT"/>
              </a:rPr>
              <a:t>Carlos Junio Faria Costa</a:t>
            </a:r>
          </a:p>
          <a:p>
            <a:pPr marL="12700" marR="5080" indent="19050" algn="ctr">
              <a:lnSpc>
                <a:spcPct val="102600"/>
              </a:lnSpc>
              <a:spcBef>
                <a:spcPts val="55"/>
              </a:spcBef>
            </a:pPr>
            <a:r>
              <a:rPr lang="en-US" sz="1100" spc="-60">
                <a:latin typeface="Arial MT"/>
                <a:cs typeface="Arial MT"/>
              </a:rPr>
              <a:t>Elias </a:t>
            </a:r>
            <a:r>
              <a:rPr lang="en-US" sz="1100" spc="-60" err="1">
                <a:latin typeface="Arial MT"/>
                <a:cs typeface="Arial MT"/>
              </a:rPr>
              <a:t>Drates</a:t>
            </a:r>
            <a:r>
              <a:rPr lang="en-US" sz="1100" spc="-60">
                <a:latin typeface="Arial MT"/>
                <a:cs typeface="Arial MT"/>
              </a:rPr>
              <a:t> de Souza</a:t>
            </a:r>
          </a:p>
          <a:p>
            <a:pPr marL="12700" marR="5080" indent="19050" algn="ctr">
              <a:lnSpc>
                <a:spcPct val="102600"/>
              </a:lnSpc>
              <a:spcBef>
                <a:spcPts val="55"/>
              </a:spcBef>
            </a:pPr>
            <a:r>
              <a:rPr lang="en-US" sz="1100" spc="-60">
                <a:latin typeface="Arial MT"/>
                <a:cs typeface="Arial MT"/>
              </a:rPr>
              <a:t>Jennifer Eduarda Vieira Daleffi</a:t>
            </a:r>
          </a:p>
          <a:p>
            <a:pPr marL="12700" marR="5080" indent="19050" algn="ctr">
              <a:lnSpc>
                <a:spcPct val="102600"/>
              </a:lnSpc>
              <a:spcBef>
                <a:spcPts val="55"/>
              </a:spcBef>
            </a:pPr>
            <a:r>
              <a:rPr lang="en-US" sz="1100" spc="-60">
                <a:latin typeface="Arial MT"/>
                <a:cs typeface="Arial MT"/>
              </a:rPr>
              <a:t>Simone Paula Torres Drates</a:t>
            </a:r>
          </a:p>
          <a:p>
            <a:pPr marL="89535" algn="ctr">
              <a:spcBef>
                <a:spcPts val="600"/>
              </a:spcBef>
            </a:pPr>
            <a:r>
              <a:rPr sz="1100">
                <a:latin typeface="Arial MT"/>
                <a:cs typeface="Arial MT"/>
              </a:rPr>
              <a:t>Prof.</a:t>
            </a:r>
            <a:r>
              <a:rPr sz="1100" spc="-40">
                <a:latin typeface="Arial MT"/>
                <a:cs typeface="Arial MT"/>
              </a:rPr>
              <a:t> </a:t>
            </a:r>
            <a:r>
              <a:rPr lang="pt-BR" sz="1100" spc="-40">
                <a:latin typeface="Arial MT"/>
                <a:cs typeface="Arial MT"/>
              </a:rPr>
              <a:t>Alisson Rabelo Arantes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8690" y="2364199"/>
            <a:ext cx="451726" cy="42523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91692" y="2861043"/>
            <a:ext cx="2825115" cy="267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955"/>
              </a:lnSpc>
              <a:spcBef>
                <a:spcPts val="95"/>
              </a:spcBef>
            </a:pPr>
            <a:r>
              <a:rPr sz="800" cap="small">
                <a:latin typeface="Arial MT"/>
                <a:cs typeface="Arial MT"/>
              </a:rPr>
              <a:t>Pontifícia</a:t>
            </a:r>
            <a:r>
              <a:rPr sz="800" cap="small" spc="195">
                <a:latin typeface="Arial MT"/>
                <a:cs typeface="Arial MT"/>
              </a:rPr>
              <a:t> </a:t>
            </a:r>
            <a:r>
              <a:rPr sz="800" cap="small">
                <a:latin typeface="Arial MT"/>
                <a:cs typeface="Arial MT"/>
              </a:rPr>
              <a:t>Universidade</a:t>
            </a:r>
            <a:r>
              <a:rPr sz="800" cap="small" spc="195">
                <a:latin typeface="Arial MT"/>
                <a:cs typeface="Arial MT"/>
              </a:rPr>
              <a:t> </a:t>
            </a:r>
            <a:r>
              <a:rPr sz="800" cap="small">
                <a:latin typeface="Arial MT"/>
                <a:cs typeface="Arial MT"/>
              </a:rPr>
              <a:t>Católica</a:t>
            </a:r>
            <a:r>
              <a:rPr sz="800" cap="small" spc="195">
                <a:latin typeface="Arial MT"/>
                <a:cs typeface="Arial MT"/>
              </a:rPr>
              <a:t> </a:t>
            </a:r>
            <a:r>
              <a:rPr sz="800" cap="small">
                <a:latin typeface="Arial MT"/>
                <a:cs typeface="Arial MT"/>
              </a:rPr>
              <a:t>de</a:t>
            </a:r>
            <a:r>
              <a:rPr sz="800" cap="small" spc="195">
                <a:latin typeface="Arial MT"/>
                <a:cs typeface="Arial MT"/>
              </a:rPr>
              <a:t> </a:t>
            </a:r>
            <a:r>
              <a:rPr sz="800" cap="small">
                <a:latin typeface="Arial MT"/>
                <a:cs typeface="Arial MT"/>
              </a:rPr>
              <a:t>Minas</a:t>
            </a:r>
            <a:r>
              <a:rPr sz="800" cap="small" spc="195">
                <a:latin typeface="Arial MT"/>
                <a:cs typeface="Arial MT"/>
              </a:rPr>
              <a:t> </a:t>
            </a:r>
            <a:r>
              <a:rPr sz="800" cap="small" spc="-10">
                <a:latin typeface="Arial MT"/>
                <a:cs typeface="Arial MT"/>
              </a:rPr>
              <a:t>Gerais</a:t>
            </a:r>
            <a:endParaRPr sz="800">
              <a:latin typeface="Arial MT"/>
              <a:cs typeface="Arial MT"/>
            </a:endParaRPr>
          </a:p>
          <a:p>
            <a:pPr algn="ctr">
              <a:lnSpc>
                <a:spcPts val="955"/>
              </a:lnSpc>
            </a:pPr>
            <a:r>
              <a:rPr sz="800">
                <a:latin typeface="Arial MT"/>
                <a:cs typeface="Arial MT"/>
              </a:rPr>
              <a:t>Departamento</a:t>
            </a:r>
            <a:r>
              <a:rPr sz="800" spc="-35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de</a:t>
            </a:r>
            <a:r>
              <a:rPr sz="800" spc="-30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Eng.</a:t>
            </a:r>
            <a:r>
              <a:rPr sz="800" spc="15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de</a:t>
            </a:r>
            <a:r>
              <a:rPr sz="800" spc="-35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Software</a:t>
            </a:r>
            <a:r>
              <a:rPr sz="800" spc="-30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e</a:t>
            </a:r>
            <a:r>
              <a:rPr sz="800" spc="-35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Sistemas</a:t>
            </a:r>
            <a:r>
              <a:rPr sz="800" spc="-30">
                <a:latin typeface="Arial MT"/>
                <a:cs typeface="Arial MT"/>
              </a:rPr>
              <a:t> </a:t>
            </a:r>
            <a:r>
              <a:rPr sz="800">
                <a:latin typeface="Arial MT"/>
                <a:cs typeface="Arial MT"/>
              </a:rPr>
              <a:t>de</a:t>
            </a:r>
            <a:r>
              <a:rPr sz="800" spc="-35">
                <a:latin typeface="Arial MT"/>
                <a:cs typeface="Arial MT"/>
              </a:rPr>
              <a:t> </a:t>
            </a:r>
            <a:r>
              <a:rPr sz="800" spc="-10">
                <a:latin typeface="Arial MT"/>
                <a:cs typeface="Arial MT"/>
              </a:rPr>
              <a:t>Informação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3312071"/>
            <a:ext cx="4608195" cy="144145"/>
            <a:chOff x="0" y="3312071"/>
            <a:chExt cx="4608195" cy="144145"/>
          </a:xfrm>
        </p:grpSpPr>
        <p:sp>
          <p:nvSpPr>
            <p:cNvPr id="15" name="object 15"/>
            <p:cNvSpPr/>
            <p:nvPr/>
          </p:nvSpPr>
          <p:spPr>
            <a:xfrm>
              <a:off x="0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3995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xfrm>
            <a:off x="675113" y="3326273"/>
            <a:ext cx="1533658" cy="101310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marL="12700">
              <a:spcBef>
                <a:spcPts val="70"/>
              </a:spcBef>
            </a:pPr>
            <a:r>
              <a:rPr lang="pt-BR"/>
              <a:t>Bruno</a:t>
            </a:r>
            <a:r>
              <a:t>,</a:t>
            </a:r>
            <a:r>
              <a:rPr spc="-15"/>
              <a:t> </a:t>
            </a:r>
            <a:r>
              <a:rPr lang="pt-BR" spc="-15"/>
              <a:t>Carlos</a:t>
            </a:r>
            <a:r>
              <a:rPr spc="-10"/>
              <a:t>,</a:t>
            </a:r>
            <a:r>
              <a:rPr spc="-15"/>
              <a:t> </a:t>
            </a:r>
            <a:r>
              <a:rPr lang="pt-BR" spc="-15"/>
              <a:t>Elias, Jennifer e Simone</a:t>
            </a:r>
            <a:endParaRPr lang="pt-BR"/>
          </a:p>
        </p:txBody>
      </p:sp>
      <p:sp>
        <p:nvSpPr>
          <p:cNvPr id="18" name="object 18"/>
          <p:cNvSpPr txBox="1"/>
          <p:nvPr/>
        </p:nvSpPr>
        <p:spPr>
          <a:xfrm>
            <a:off x="2399296" y="3326286"/>
            <a:ext cx="841375" cy="193643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marL="12700">
              <a:spcBef>
                <a:spcPts val="70"/>
              </a:spcBef>
            </a:pPr>
            <a:r>
              <a:rPr lang="pt-BR" sz="600" err="1">
                <a:solidFill>
                  <a:srgbClr val="FFFFFF"/>
                </a:solidFill>
                <a:latin typeface="Arial MT"/>
              </a:rPr>
              <a:t>LêUai</a:t>
            </a:r>
            <a:r>
              <a:rPr lang="pt-BR" sz="600">
                <a:solidFill>
                  <a:srgbClr val="FFFFFF"/>
                </a:solidFill>
                <a:latin typeface="Arial MT"/>
              </a:rPr>
              <a:t> - </a:t>
            </a:r>
            <a:r>
              <a:rPr lang="pt-BR" sz="600">
                <a:solidFill>
                  <a:srgbClr val="FFFFFF"/>
                </a:solidFill>
              </a:rPr>
              <a:t>Biblioteca Virtual </a:t>
            </a:r>
            <a:endParaRPr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4657" y="-16363"/>
            <a:ext cx="654685" cy="335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9554" algn="r">
              <a:lnSpc>
                <a:spcPct val="119700"/>
              </a:lnSpc>
              <a:spcBef>
                <a:spcPts val="100"/>
              </a:spcBef>
            </a:pPr>
            <a:r>
              <a:rPr sz="600" spc="-10">
                <a:solidFill>
                  <a:srgbClr val="7F7F7F"/>
                </a:solidFill>
                <a:latin typeface="Arial MT"/>
                <a:cs typeface="Arial MT"/>
                <a:hlinkClick r:id="rId2" action="ppaction://hlinksldjump"/>
              </a:rPr>
              <a:t>Ingrodução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Projeto</a:t>
            </a:r>
            <a:r>
              <a:rPr sz="600" spc="-25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do</a:t>
            </a:r>
            <a:r>
              <a:rPr sz="600" spc="-20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sistema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lang="en-US" sz="600" spc="-10">
                <a:solidFill>
                  <a:srgbClr val="7F7F7F"/>
                </a:solidFill>
                <a:latin typeface="Arial MT"/>
                <a:cs typeface="Arial MT"/>
                <a:hlinkClick r:id="rId4" action="ppaction://hlinksldjump"/>
              </a:rPr>
              <a:t>Desenvolvimento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608195" cy="663575"/>
            <a:chOff x="0" y="0"/>
            <a:chExt cx="4608195" cy="663575"/>
          </a:xfrm>
        </p:grpSpPr>
        <p:sp>
          <p:nvSpPr>
            <p:cNvPr id="4" name="object 4"/>
            <p:cNvSpPr/>
            <p:nvPr/>
          </p:nvSpPr>
          <p:spPr>
            <a:xfrm>
              <a:off x="2303995" y="0"/>
              <a:ext cx="2304415" cy="363220"/>
            </a:xfrm>
            <a:custGeom>
              <a:avLst/>
              <a:gdLst/>
              <a:ahLst/>
              <a:cxnLst/>
              <a:rect l="l" t="t" r="r" b="b"/>
              <a:pathLst>
                <a:path w="2304415" h="363220">
                  <a:moveTo>
                    <a:pt x="2303995" y="0"/>
                  </a:moveTo>
                  <a:lnTo>
                    <a:pt x="0" y="0"/>
                  </a:lnTo>
                  <a:lnTo>
                    <a:pt x="0" y="362788"/>
                  </a:lnTo>
                  <a:lnTo>
                    <a:pt x="2303995" y="362788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362786"/>
              <a:ext cx="4608060" cy="30052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5948" y="349476"/>
            <a:ext cx="7067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/>
              <a:t>Sumário</a:t>
            </a: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2031" y="830084"/>
            <a:ext cx="188391" cy="1883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55384" y="846415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3024" y="1063015"/>
            <a:ext cx="76809" cy="7680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3024" y="1235087"/>
            <a:ext cx="76809" cy="7680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2031" y="1471396"/>
            <a:ext cx="188391" cy="18839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55384" y="1487727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>
                <a:solidFill>
                  <a:srgbClr val="EAEAF7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73024" y="1704327"/>
            <a:ext cx="76809" cy="7680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3024" y="1876399"/>
            <a:ext cx="76809" cy="7680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73024" y="2048472"/>
            <a:ext cx="76809" cy="7680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2031" y="2284780"/>
            <a:ext cx="188391" cy="18839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55384" y="2300070"/>
            <a:ext cx="819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>
                <a:solidFill>
                  <a:srgbClr val="EAEAF7"/>
                </a:solidFill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73024" y="2517711"/>
            <a:ext cx="76809" cy="76809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46557" y="823758"/>
            <a:ext cx="1247140" cy="1821204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75260" marR="5080" indent="-163195">
              <a:lnSpc>
                <a:spcPct val="102600"/>
              </a:lnSpc>
              <a:spcBef>
                <a:spcPts val="55"/>
              </a:spcBef>
            </a:pPr>
            <a:r>
              <a:rPr lang="pt-BR" sz="1100" spc="-10">
                <a:solidFill>
                  <a:srgbClr val="3333B2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r>
              <a:rPr sz="1100" spc="-1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100" spc="-10">
                <a:latin typeface="Arial MT"/>
                <a:cs typeface="Arial MT"/>
                <a:hlinkClick r:id="rId2" action="ppaction://hlinksldjump"/>
              </a:rPr>
              <a:t>Contextualização</a:t>
            </a:r>
            <a:r>
              <a:rPr sz="1100" spc="-10">
                <a:latin typeface="Arial MT"/>
                <a:cs typeface="Arial MT"/>
              </a:rPr>
              <a:t> </a:t>
            </a:r>
            <a:r>
              <a:rPr sz="1100" spc="-10">
                <a:latin typeface="Arial MT"/>
                <a:cs typeface="Arial MT"/>
                <a:hlinkClick r:id="rId15" action="ppaction://hlinksldjump"/>
              </a:rPr>
              <a:t>Objetivos</a:t>
            </a:r>
            <a:endParaRPr sz="1100">
              <a:latin typeface="Arial MT"/>
              <a:cs typeface="Arial MT"/>
            </a:endParaRPr>
          </a:p>
          <a:p>
            <a:pPr marL="175260" marR="78740" indent="-163195">
              <a:lnSpc>
                <a:spcPct val="102600"/>
              </a:lnSpc>
              <a:spcBef>
                <a:spcPts val="985"/>
              </a:spcBef>
            </a:pPr>
            <a:r>
              <a:rPr lang="pt-BR" sz="1100">
                <a:solidFill>
                  <a:srgbClr val="3333B2"/>
                </a:solidFill>
                <a:latin typeface="Arial MT"/>
                <a:cs typeface="Arial MT"/>
                <a:hlinkClick r:id="" action="ppaction://noaction"/>
              </a:rPr>
              <a:t>Projeto</a:t>
            </a:r>
            <a:r>
              <a:rPr lang="pt-BR" sz="1100" spc="-30">
                <a:solidFill>
                  <a:srgbClr val="3333B2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lang="pt-BR" sz="1100">
                <a:solidFill>
                  <a:srgbClr val="3333B2"/>
                </a:solidFill>
                <a:latin typeface="Arial MT"/>
                <a:cs typeface="Arial MT"/>
                <a:hlinkClick r:id="" action="ppaction://noaction"/>
              </a:rPr>
              <a:t>do</a:t>
            </a:r>
            <a:r>
              <a:rPr lang="pt-BR" sz="1100" spc="-30">
                <a:solidFill>
                  <a:srgbClr val="3333B2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lang="pt-BR" sz="1100" spc="-10">
                <a:solidFill>
                  <a:srgbClr val="3333B2"/>
                </a:solidFill>
                <a:latin typeface="Arial MT"/>
                <a:cs typeface="Arial MT"/>
                <a:hlinkClick r:id="" action="ppaction://noaction"/>
              </a:rPr>
              <a:t>sistema</a:t>
            </a:r>
            <a:r>
              <a:rPr sz="1100" spc="-1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100" spc="-10">
                <a:latin typeface="Arial MT"/>
                <a:cs typeface="Arial MT"/>
                <a:hlinkClick r:id="rId3" action="ppaction://hlinksldjump"/>
              </a:rPr>
              <a:t>Usuários</a:t>
            </a:r>
            <a:r>
              <a:rPr sz="1100" spc="-10">
                <a:latin typeface="Arial MT"/>
                <a:cs typeface="Arial MT"/>
              </a:rPr>
              <a:t> </a:t>
            </a:r>
            <a:r>
              <a:rPr sz="1100" spc="-10">
                <a:latin typeface="Arial MT"/>
                <a:cs typeface="Arial MT"/>
                <a:hlinkClick r:id="rId16" action="ppaction://hlinksldjump"/>
              </a:rPr>
              <a:t>Requisitos</a:t>
            </a:r>
            <a:r>
              <a:rPr sz="1100" spc="-10">
                <a:latin typeface="Arial MT"/>
                <a:cs typeface="Arial MT"/>
              </a:rPr>
              <a:t> </a:t>
            </a:r>
            <a:r>
              <a:rPr sz="1100" spc="-10">
                <a:latin typeface="Arial MT"/>
                <a:cs typeface="Arial MT"/>
                <a:hlinkClick r:id="rId17" action="ppaction://hlinksldjump"/>
              </a:rPr>
              <a:t>Tecnologias</a:t>
            </a:r>
            <a:endParaRPr sz="1100">
              <a:latin typeface="Arial MT"/>
              <a:cs typeface="Arial MT"/>
            </a:endParaRPr>
          </a:p>
          <a:p>
            <a:pPr marL="175260" marR="170180" indent="-163195">
              <a:lnSpc>
                <a:spcPct val="102600"/>
              </a:lnSpc>
              <a:spcBef>
                <a:spcPts val="985"/>
              </a:spcBef>
            </a:pPr>
            <a:r>
              <a:rPr lang="en-US" sz="1100" spc="-20">
                <a:solidFill>
                  <a:srgbClr val="3333B2"/>
                </a:solidFill>
                <a:latin typeface="Arial MT"/>
                <a:cs typeface="Arial MT"/>
                <a:hlinkClick r:id="rId4" action="ppaction://hlinksldjump"/>
              </a:rPr>
              <a:t>Desenvolvimento</a:t>
            </a:r>
            <a:r>
              <a:rPr lang="en-US" sz="1100" spc="-20">
                <a:solidFill>
                  <a:srgbClr val="3333B2"/>
                </a:solidFill>
                <a:latin typeface="Arial MT"/>
                <a:cs typeface="Arial MT"/>
              </a:rPr>
              <a:t> </a:t>
            </a:r>
            <a:r>
              <a:rPr sz="1100" spc="-10">
                <a:latin typeface="Arial MT"/>
                <a:cs typeface="Arial MT"/>
              </a:rPr>
              <a:t> </a:t>
            </a:r>
            <a:r>
              <a:rPr sz="1100" spc="-10">
                <a:latin typeface="Arial MT"/>
                <a:cs typeface="Arial MT"/>
                <a:hlinkClick r:id="rId4" action="ppaction://hlinksldjump"/>
              </a:rPr>
              <a:t>Conclusão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0" y="3312071"/>
            <a:ext cx="4608410" cy="144145"/>
            <a:chOff x="0" y="3312071"/>
            <a:chExt cx="4608410" cy="144145"/>
          </a:xfrm>
        </p:grpSpPr>
        <p:sp>
          <p:nvSpPr>
            <p:cNvPr id="23" name="object 23"/>
            <p:cNvSpPr/>
            <p:nvPr/>
          </p:nvSpPr>
          <p:spPr>
            <a:xfrm>
              <a:off x="0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303995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xfrm>
            <a:off x="543686" y="3310628"/>
            <a:ext cx="1665085" cy="211686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pc="-60"/>
              <a:t>Bruno, Carlos, Elias, Jennifer e Simone</a:t>
            </a:r>
            <a:endParaRPr lang="en-US" spc="-6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60"/>
          </a:p>
        </p:txBody>
      </p:sp>
      <p:sp>
        <p:nvSpPr>
          <p:cNvPr id="26" name="object 26"/>
          <p:cNvSpPr txBox="1"/>
          <p:nvPr/>
        </p:nvSpPr>
        <p:spPr>
          <a:xfrm>
            <a:off x="2399296" y="3326286"/>
            <a:ext cx="841375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z="600" spc="-10" err="1">
                <a:solidFill>
                  <a:srgbClr val="FFFFFF"/>
                </a:solidFill>
              </a:rPr>
              <a:t>LêUai</a:t>
            </a:r>
            <a:r>
              <a:rPr lang="pt-BR" sz="600" spc="-10">
                <a:solidFill>
                  <a:srgbClr val="FFFFFF"/>
                </a:solidFill>
              </a:rPr>
              <a:t> - </a:t>
            </a:r>
            <a:r>
              <a:rPr lang="pt-BR" sz="600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Biblioteca Virtual </a:t>
            </a:r>
            <a:endParaRPr lang="en-US" sz="600" spc="-1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z="600" spc="-10">
              <a:solidFill>
                <a:srgbClr val="FFFFFF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4657" y="-16363"/>
            <a:ext cx="654685" cy="33502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248920" algn="r">
              <a:lnSpc>
                <a:spcPct val="119700"/>
              </a:lnSpc>
              <a:spcBef>
                <a:spcPts val="100"/>
              </a:spcBef>
            </a:pPr>
            <a:r>
              <a:rPr lang="pt-BR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r>
              <a:rPr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Projeto</a:t>
            </a:r>
            <a:r>
              <a:rPr sz="600" spc="-25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do</a:t>
            </a:r>
            <a:r>
              <a:rPr sz="600" spc="-2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 spc="-1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sistema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lang="en-US" sz="600" spc="-10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Desenvolvimento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363220"/>
          </a:xfrm>
          <a:custGeom>
            <a:avLst/>
            <a:gdLst/>
            <a:ahLst/>
            <a:cxnLst/>
            <a:rect l="l" t="t" r="r" b="b"/>
            <a:pathLst>
              <a:path w="2304415" h="363220">
                <a:moveTo>
                  <a:pt x="2303995" y="0"/>
                </a:moveTo>
                <a:lnTo>
                  <a:pt x="0" y="0"/>
                </a:lnTo>
                <a:lnTo>
                  <a:pt x="0" y="362788"/>
                </a:lnTo>
                <a:lnTo>
                  <a:pt x="2303995" y="362788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99296" y="38335"/>
            <a:ext cx="605790" cy="24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100"/>
              </a:spcBef>
            </a:pPr>
            <a:r>
              <a:rPr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Contextualização</a:t>
            </a:r>
            <a:r>
              <a:rPr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10">
                <a:solidFill>
                  <a:srgbClr val="9898D8"/>
                </a:solidFill>
                <a:latin typeface="Arial MT"/>
                <a:cs typeface="Arial MT"/>
                <a:hlinkClick r:id="rId4" action="ppaction://hlinksldjump"/>
              </a:rPr>
              <a:t>Objetivos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62786"/>
            <a:ext cx="4608060" cy="3005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5948" y="349476"/>
            <a:ext cx="1844675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pt-BR" sz="1400">
                <a:solidFill>
                  <a:srgbClr val="FFFFFF"/>
                </a:solidFill>
                <a:latin typeface="Arial MT"/>
                <a:cs typeface="Arial MT"/>
              </a:rPr>
              <a:t>Definição</a:t>
            </a:r>
            <a:r>
              <a:rPr lang="pt-BR" sz="14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1400">
                <a:solidFill>
                  <a:srgbClr val="FFFFFF"/>
                </a:solidFill>
                <a:latin typeface="Arial MT"/>
                <a:cs typeface="Arial MT"/>
              </a:rPr>
              <a:t>do</a:t>
            </a:r>
            <a:r>
              <a:rPr lang="pt-BR" sz="140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pt-BR" sz="1400" spc="-10">
                <a:solidFill>
                  <a:srgbClr val="FFFFFF"/>
                </a:solidFill>
                <a:latin typeface="Arial MT"/>
                <a:cs typeface="Arial MT"/>
              </a:rPr>
              <a:t>problema</a:t>
            </a:r>
            <a:endParaRPr lang="pt-BR" sz="1400">
              <a:solidFill>
                <a:srgbClr val="000000"/>
              </a:solidFill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26648" y="590"/>
            <a:ext cx="378219" cy="360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1522" y="950526"/>
            <a:ext cx="76809" cy="7680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82222" y="866416"/>
            <a:ext cx="3452541" cy="1821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1100" err="1"/>
              <a:t>Contextualização</a:t>
            </a:r>
            <a:r>
              <a:rPr lang="en-US" sz="1100"/>
              <a:t> do </a:t>
            </a:r>
            <a:r>
              <a:rPr lang="en-US" sz="1100" err="1"/>
              <a:t>projeto</a:t>
            </a:r>
            <a:endParaRPr lang="pt-BR" sz="1100"/>
          </a:p>
        </p:txBody>
      </p:sp>
      <p:grpSp>
        <p:nvGrpSpPr>
          <p:cNvPr id="11" name="object 11"/>
          <p:cNvGrpSpPr/>
          <p:nvPr/>
        </p:nvGrpSpPr>
        <p:grpSpPr>
          <a:xfrm>
            <a:off x="0" y="3312071"/>
            <a:ext cx="4608195" cy="144145"/>
            <a:chOff x="0" y="3312071"/>
            <a:chExt cx="4608195" cy="144145"/>
          </a:xfrm>
        </p:grpSpPr>
        <p:sp>
          <p:nvSpPr>
            <p:cNvPr id="12" name="object 12"/>
            <p:cNvSpPr/>
            <p:nvPr/>
          </p:nvSpPr>
          <p:spPr>
            <a:xfrm>
              <a:off x="0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02719" y="3315847"/>
            <a:ext cx="1806052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pc="-60"/>
              <a:t>Bruno, Carlos, Elias, Jennifer e Simone</a:t>
            </a:r>
            <a:endParaRPr lang="en-US" spc="-6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60"/>
          </a:p>
        </p:txBody>
      </p:sp>
      <p:sp>
        <p:nvSpPr>
          <p:cNvPr id="15" name="object 15"/>
          <p:cNvSpPr txBox="1"/>
          <p:nvPr/>
        </p:nvSpPr>
        <p:spPr>
          <a:xfrm>
            <a:off x="2399296" y="3326286"/>
            <a:ext cx="841375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z="600" spc="-10" err="1">
                <a:solidFill>
                  <a:srgbClr val="FFFFFF"/>
                </a:solidFill>
              </a:rPr>
              <a:t>LêUai</a:t>
            </a:r>
            <a:r>
              <a:rPr lang="pt-BR" sz="600" spc="-10">
                <a:solidFill>
                  <a:srgbClr val="FFFFFF"/>
                </a:solidFill>
              </a:rPr>
              <a:t> - </a:t>
            </a:r>
            <a:r>
              <a:rPr lang="pt-BR" sz="600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Biblioteca Virtual </a:t>
            </a:r>
            <a:endParaRPr lang="en-US" sz="600" spc="-1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z="600" spc="-10">
              <a:solidFill>
                <a:srgbClr val="FFFFFF"/>
              </a:solidFill>
              <a:latin typeface="Arial MT"/>
              <a:cs typeface="Arial MT"/>
            </a:endParaRPr>
          </a:p>
        </p:txBody>
      </p:sp>
      <p:pic>
        <p:nvPicPr>
          <p:cNvPr id="16" name="object 8">
            <a:extLst>
              <a:ext uri="{FF2B5EF4-FFF2-40B4-BE49-F238E27FC236}">
                <a16:creationId xmlns:a16="http://schemas.microsoft.com/office/drawing/2014/main" id="{AB38D91E-3816-CECE-856E-963E376451C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6137" y="1282074"/>
            <a:ext cx="76809" cy="76809"/>
          </a:xfrm>
          <a:prstGeom prst="rect">
            <a:avLst/>
          </a:prstGeom>
        </p:spPr>
      </p:pic>
      <p:sp>
        <p:nvSpPr>
          <p:cNvPr id="18" name="object 9">
            <a:extLst>
              <a:ext uri="{FF2B5EF4-FFF2-40B4-BE49-F238E27FC236}">
                <a16:creationId xmlns:a16="http://schemas.microsoft.com/office/drawing/2014/main" id="{C4A46A99-082E-B212-5FCA-528B474D422A}"/>
              </a:ext>
            </a:extLst>
          </p:cNvPr>
          <p:cNvSpPr txBox="1"/>
          <p:nvPr/>
        </p:nvSpPr>
        <p:spPr>
          <a:xfrm>
            <a:off x="582059" y="1213752"/>
            <a:ext cx="3931991" cy="1821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1100" err="1"/>
              <a:t>Proposta</a:t>
            </a:r>
            <a:r>
              <a:rPr lang="en-US" sz="1100"/>
              <a:t> da </a:t>
            </a:r>
            <a:r>
              <a:rPr lang="en-US" sz="1100" err="1"/>
              <a:t>aplicação</a:t>
            </a:r>
            <a:r>
              <a:rPr lang="en-US" sz="1100"/>
              <a:t> web: Biblioteca Online</a:t>
            </a:r>
            <a:endParaRPr lang="pt-BR" sz="1100"/>
          </a:p>
        </p:txBody>
      </p:sp>
      <p:pic>
        <p:nvPicPr>
          <p:cNvPr id="19" name="object 8">
            <a:extLst>
              <a:ext uri="{FF2B5EF4-FFF2-40B4-BE49-F238E27FC236}">
                <a16:creationId xmlns:a16="http://schemas.microsoft.com/office/drawing/2014/main" id="{185208D9-AA02-408F-DE75-4B88A6B187B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6136" y="1650461"/>
            <a:ext cx="76809" cy="76809"/>
          </a:xfrm>
          <a:prstGeom prst="rect">
            <a:avLst/>
          </a:prstGeom>
        </p:spPr>
      </p:pic>
      <p:sp>
        <p:nvSpPr>
          <p:cNvPr id="20" name="object 9">
            <a:extLst>
              <a:ext uri="{FF2B5EF4-FFF2-40B4-BE49-F238E27FC236}">
                <a16:creationId xmlns:a16="http://schemas.microsoft.com/office/drawing/2014/main" id="{756B2D22-82E5-6D8D-A8CE-5B0D9CF679F2}"/>
              </a:ext>
            </a:extLst>
          </p:cNvPr>
          <p:cNvSpPr txBox="1"/>
          <p:nvPr/>
        </p:nvSpPr>
        <p:spPr>
          <a:xfrm>
            <a:off x="482189" y="1982722"/>
            <a:ext cx="3452541" cy="1821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1100"/>
              <a:t>  </a:t>
            </a:r>
            <a:r>
              <a:rPr lang="en-US" sz="1100" err="1"/>
              <a:t>Limitações</a:t>
            </a:r>
            <a:r>
              <a:rPr lang="en-US" sz="1100"/>
              <a:t> de </a:t>
            </a:r>
            <a:r>
              <a:rPr lang="en-US" sz="1100" err="1"/>
              <a:t>consultas</a:t>
            </a:r>
            <a:r>
              <a:rPr lang="en-US" sz="1100"/>
              <a:t> </a:t>
            </a:r>
            <a:r>
              <a:rPr lang="en-US" sz="1100" err="1"/>
              <a:t>presenciais</a:t>
            </a:r>
            <a:endParaRPr lang="pt-BR" sz="1100"/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F6FE8351-2A85-716C-3543-2B15EC37C3AA}"/>
              </a:ext>
            </a:extLst>
          </p:cNvPr>
          <p:cNvSpPr txBox="1"/>
          <p:nvPr/>
        </p:nvSpPr>
        <p:spPr>
          <a:xfrm>
            <a:off x="582031" y="1571613"/>
            <a:ext cx="3642164" cy="35137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1100" err="1"/>
              <a:t>Dificuldade</a:t>
            </a:r>
            <a:r>
              <a:rPr lang="en-US" sz="1100"/>
              <a:t> de </a:t>
            </a:r>
            <a:r>
              <a:rPr lang="en-US" sz="1100" err="1"/>
              <a:t>acesso</a:t>
            </a:r>
            <a:r>
              <a:rPr lang="en-US" sz="1100"/>
              <a:t> </a:t>
            </a:r>
            <a:r>
              <a:rPr lang="en-US" sz="1100" err="1"/>
              <a:t>às</a:t>
            </a:r>
            <a:r>
              <a:rPr lang="en-US" sz="1100"/>
              <a:t> </a:t>
            </a:r>
            <a:r>
              <a:rPr lang="en-US" sz="1100" err="1"/>
              <a:t>informações</a:t>
            </a:r>
            <a:r>
              <a:rPr lang="en-US" sz="1100"/>
              <a:t> de </a:t>
            </a:r>
            <a:r>
              <a:rPr lang="en-US" sz="1100" err="1"/>
              <a:t>acervos</a:t>
            </a:r>
            <a:r>
              <a:rPr lang="en-US" sz="1100"/>
              <a:t> </a:t>
            </a:r>
            <a:r>
              <a:rPr lang="en-US" sz="1100" err="1"/>
              <a:t>tradicionais</a:t>
            </a:r>
            <a:endParaRPr lang="pt-BR" sz="1100"/>
          </a:p>
        </p:txBody>
      </p:sp>
      <p:sp>
        <p:nvSpPr>
          <p:cNvPr id="24" name="object 9">
            <a:extLst>
              <a:ext uri="{FF2B5EF4-FFF2-40B4-BE49-F238E27FC236}">
                <a16:creationId xmlns:a16="http://schemas.microsoft.com/office/drawing/2014/main" id="{42F0BB70-3E00-D81C-639B-4A7A18A8384D}"/>
              </a:ext>
            </a:extLst>
          </p:cNvPr>
          <p:cNvSpPr txBox="1"/>
          <p:nvPr/>
        </p:nvSpPr>
        <p:spPr>
          <a:xfrm>
            <a:off x="481871" y="2372682"/>
            <a:ext cx="3452541" cy="1821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1100"/>
              <a:t>   Falta de </a:t>
            </a:r>
            <a:r>
              <a:rPr lang="en-US" sz="1100" err="1"/>
              <a:t>praticidade</a:t>
            </a:r>
            <a:r>
              <a:rPr lang="en-US" sz="1100"/>
              <a:t> no </a:t>
            </a:r>
            <a:r>
              <a:rPr lang="en-US" sz="1100" err="1"/>
              <a:t>acesso</a:t>
            </a:r>
            <a:endParaRPr lang="en-US" sz="1100">
              <a:solidFill>
                <a:srgbClr val="000000"/>
              </a:solidFill>
            </a:endParaRPr>
          </a:p>
        </p:txBody>
      </p:sp>
      <p:pic>
        <p:nvPicPr>
          <p:cNvPr id="25" name="object 8">
            <a:extLst>
              <a:ext uri="{FF2B5EF4-FFF2-40B4-BE49-F238E27FC236}">
                <a16:creationId xmlns:a16="http://schemas.microsoft.com/office/drawing/2014/main" id="{0834EE84-ADE2-2F6F-0A45-B9198DE3B22B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0220" y="2056306"/>
            <a:ext cx="76809" cy="76809"/>
          </a:xfrm>
          <a:prstGeom prst="rect">
            <a:avLst/>
          </a:prstGeom>
        </p:spPr>
      </p:pic>
      <p:pic>
        <p:nvPicPr>
          <p:cNvPr id="26" name="object 8">
            <a:extLst>
              <a:ext uri="{FF2B5EF4-FFF2-40B4-BE49-F238E27FC236}">
                <a16:creationId xmlns:a16="http://schemas.microsoft.com/office/drawing/2014/main" id="{92B6F661-669A-3A0E-B58D-F578B1929856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1113" y="2435741"/>
            <a:ext cx="76809" cy="7680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4657" y="-16363"/>
            <a:ext cx="654685" cy="33502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248920" algn="r">
              <a:lnSpc>
                <a:spcPct val="119700"/>
              </a:lnSpc>
              <a:spcBef>
                <a:spcPts val="100"/>
              </a:spcBef>
            </a:pPr>
            <a:r>
              <a:rPr lang="pt-BR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r>
              <a:rPr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err="1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Projeto</a:t>
            </a:r>
            <a:r>
              <a:rPr sz="600" spc="-25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do</a:t>
            </a:r>
            <a:r>
              <a:rPr sz="600" spc="-2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 spc="-10" err="1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sistema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lang="en-US" sz="600" spc="-10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Desenvolvimento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363220"/>
          </a:xfrm>
          <a:custGeom>
            <a:avLst/>
            <a:gdLst/>
            <a:ahLst/>
            <a:cxnLst/>
            <a:rect l="l" t="t" r="r" b="b"/>
            <a:pathLst>
              <a:path w="2304415" h="363220">
                <a:moveTo>
                  <a:pt x="2303995" y="0"/>
                </a:moveTo>
                <a:lnTo>
                  <a:pt x="0" y="0"/>
                </a:lnTo>
                <a:lnTo>
                  <a:pt x="0" y="362788"/>
                </a:lnTo>
                <a:lnTo>
                  <a:pt x="2303995" y="362788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99296" y="38335"/>
            <a:ext cx="605790" cy="24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100"/>
              </a:spcBef>
            </a:pPr>
            <a:r>
              <a:rPr sz="600" spc="-10">
                <a:solidFill>
                  <a:srgbClr val="9898D8"/>
                </a:solidFill>
                <a:latin typeface="Arial MT"/>
                <a:cs typeface="Arial MT"/>
                <a:hlinkClick r:id="rId2" action="ppaction://hlinksldjump"/>
              </a:rPr>
              <a:t>Contextualização</a:t>
            </a:r>
            <a:r>
              <a:rPr sz="600" spc="500">
                <a:solidFill>
                  <a:srgbClr val="9898D8"/>
                </a:solidFill>
                <a:latin typeface="Arial MT"/>
                <a:cs typeface="Arial MT"/>
              </a:rPr>
              <a:t> </a:t>
            </a:r>
            <a:r>
              <a:rPr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Objetivos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62786"/>
            <a:ext cx="4608060" cy="3005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5948" y="349476"/>
            <a:ext cx="7804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Objetivos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26648" y="590"/>
            <a:ext cx="378219" cy="360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6867" y="713445"/>
            <a:ext cx="4044511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1200" u="sng" spc="-20" err="1"/>
              <a:t>Objetivo</a:t>
            </a:r>
            <a:r>
              <a:rPr lang="en-US" sz="1200" u="sng" spc="-20"/>
              <a:t> Geral</a:t>
            </a:r>
            <a:endParaRPr lang="pt-BR" sz="1200" u="sng"/>
          </a:p>
          <a:p>
            <a:pPr algn="l"/>
            <a:endParaRPr lang="en-US" sz="600" b="1" spc="-20"/>
          </a:p>
          <a:p>
            <a:pPr algn="l"/>
            <a:r>
              <a:rPr lang="en-US" sz="1100" spc="-20" err="1"/>
              <a:t>Desenvolver</a:t>
            </a:r>
            <a:r>
              <a:rPr lang="en-US" sz="1100" spc="-20"/>
              <a:t> </a:t>
            </a:r>
            <a:r>
              <a:rPr lang="en-US" sz="1100" spc="-20" err="1"/>
              <a:t>uma</a:t>
            </a:r>
            <a:r>
              <a:rPr lang="en-US" sz="1100" spc="-20"/>
              <a:t> </a:t>
            </a:r>
            <a:r>
              <a:rPr lang="en-US" sz="1100" spc="-20" err="1"/>
              <a:t>aplicação</a:t>
            </a:r>
            <a:r>
              <a:rPr lang="en-US" sz="1100" spc="-20"/>
              <a:t> web de Biblioteca Online </a:t>
            </a:r>
            <a:r>
              <a:rPr lang="en-US" sz="1100" spc="-20" err="1"/>
              <a:t>voltada</a:t>
            </a:r>
            <a:r>
              <a:rPr lang="en-US" sz="1100" spc="-20"/>
              <a:t> </a:t>
            </a:r>
            <a:r>
              <a:rPr lang="en-US" sz="1100" spc="-20" err="1"/>
              <a:t>ao</a:t>
            </a:r>
            <a:r>
              <a:rPr lang="en-US" sz="1100" spc="-20"/>
              <a:t> </a:t>
            </a:r>
            <a:r>
              <a:rPr lang="en-US" sz="1100" spc="-20" err="1"/>
              <a:t>acesso</a:t>
            </a:r>
            <a:r>
              <a:rPr lang="en-US" sz="1100" spc="-20"/>
              <a:t> </a:t>
            </a:r>
            <a:r>
              <a:rPr lang="en-US" sz="1100" spc="-20" err="1"/>
              <a:t>rápido</a:t>
            </a:r>
            <a:r>
              <a:rPr lang="en-US" sz="1100" spc="-20"/>
              <a:t> e </a:t>
            </a:r>
            <a:r>
              <a:rPr lang="en-US" sz="1100" spc="-20" err="1"/>
              <a:t>eficiente</a:t>
            </a:r>
            <a:r>
              <a:rPr lang="en-US" sz="1100" spc="-20"/>
              <a:t> </a:t>
            </a:r>
            <a:r>
              <a:rPr lang="en-US" sz="1100" spc="-20" err="1"/>
              <a:t>ao</a:t>
            </a:r>
            <a:r>
              <a:rPr lang="en-US" sz="1100" spc="-20"/>
              <a:t> </a:t>
            </a:r>
            <a:r>
              <a:rPr lang="en-US" sz="1100" spc="-20" err="1"/>
              <a:t>acervo</a:t>
            </a:r>
            <a:r>
              <a:rPr lang="en-US" sz="1100" spc="-20"/>
              <a:t>.</a:t>
            </a:r>
            <a:endParaRPr lang="en-US"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2951" y="1060020"/>
            <a:ext cx="76809" cy="7680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12071"/>
            <a:ext cx="4608195" cy="144145"/>
            <a:chOff x="0" y="3312071"/>
            <a:chExt cx="4608195" cy="144145"/>
          </a:xfrm>
        </p:grpSpPr>
        <p:sp>
          <p:nvSpPr>
            <p:cNvPr id="12" name="object 12"/>
            <p:cNvSpPr/>
            <p:nvPr/>
          </p:nvSpPr>
          <p:spPr>
            <a:xfrm>
              <a:off x="0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277416" y="3315847"/>
            <a:ext cx="1931355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pc="-60"/>
              <a:t>Bruno, Carlos, Elias, Jennifer e Simone</a:t>
            </a:r>
            <a:endParaRPr lang="en-US" spc="-6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60"/>
          </a:p>
        </p:txBody>
      </p:sp>
      <p:sp>
        <p:nvSpPr>
          <p:cNvPr id="15" name="object 15"/>
          <p:cNvSpPr txBox="1"/>
          <p:nvPr/>
        </p:nvSpPr>
        <p:spPr>
          <a:xfrm>
            <a:off x="2399296" y="3326286"/>
            <a:ext cx="841375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z="600" spc="-10" err="1">
                <a:solidFill>
                  <a:srgbClr val="FFFFFF"/>
                </a:solidFill>
              </a:rPr>
              <a:t>LêUai</a:t>
            </a:r>
            <a:r>
              <a:rPr lang="pt-BR" sz="600" spc="-10">
                <a:solidFill>
                  <a:srgbClr val="FFFFFF"/>
                </a:solidFill>
              </a:rPr>
              <a:t> - </a:t>
            </a:r>
            <a:r>
              <a:rPr lang="pt-BR" sz="600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Biblioteca Virtual </a:t>
            </a:r>
            <a:endParaRPr lang="en-US" sz="600" spc="-1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z="600" spc="-1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3F04395E-7BE3-1F42-1272-7D02698FEA3F}"/>
              </a:ext>
            </a:extLst>
          </p:cNvPr>
          <p:cNvSpPr txBox="1"/>
          <p:nvPr/>
        </p:nvSpPr>
        <p:spPr>
          <a:xfrm>
            <a:off x="461447" y="1450219"/>
            <a:ext cx="3970750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1200" u="sng" spc="-20" err="1"/>
              <a:t>Objetivos</a:t>
            </a:r>
            <a:r>
              <a:rPr lang="en-US" sz="1200" u="sng" spc="-20"/>
              <a:t> </a:t>
            </a:r>
            <a:r>
              <a:rPr lang="en-US" sz="1200" u="sng" spc="-20" err="1">
                <a:latin typeface="Aptos"/>
              </a:rPr>
              <a:t>Específicos</a:t>
            </a:r>
            <a:endParaRPr lang="en-US" sz="1200" u="sng" spc="-20">
              <a:latin typeface="Aptos"/>
            </a:endParaRPr>
          </a:p>
          <a:p>
            <a:pPr algn="l"/>
            <a:endParaRPr lang="en-US" sz="600" b="1" spc="-20">
              <a:latin typeface="Aptos"/>
            </a:endParaRPr>
          </a:p>
          <a:p>
            <a:pPr algn="l"/>
            <a:r>
              <a:rPr lang="en-US" sz="1100" spc="-20" err="1"/>
              <a:t>Permitir</a:t>
            </a:r>
            <a:r>
              <a:rPr lang="en-US" sz="1100" spc="-20"/>
              <a:t> a consulta </a:t>
            </a:r>
            <a:r>
              <a:rPr lang="en-US" sz="1100" spc="-20" err="1"/>
              <a:t>prática</a:t>
            </a:r>
            <a:r>
              <a:rPr lang="en-US" sz="1100" spc="-20"/>
              <a:t> de </a:t>
            </a:r>
            <a:r>
              <a:rPr lang="en-US" sz="1100" spc="-20" err="1"/>
              <a:t>livros</a:t>
            </a:r>
            <a:r>
              <a:rPr lang="en-US" sz="1100" spc="-20"/>
              <a:t> </a:t>
            </a:r>
            <a:r>
              <a:rPr lang="en-US" sz="1100" spc="-20" err="1"/>
              <a:t>disponíveis</a:t>
            </a:r>
            <a:r>
              <a:rPr lang="en-US" sz="1100" spc="-20"/>
              <a:t> no </a:t>
            </a:r>
            <a:r>
              <a:rPr lang="en-US" sz="1100" spc="-20" err="1"/>
              <a:t>catálogo</a:t>
            </a:r>
            <a:r>
              <a:rPr lang="en-US" sz="1100" spc="-20"/>
              <a:t>;</a:t>
            </a:r>
            <a:endParaRPr lang="en-US" sz="1100"/>
          </a:p>
          <a:p>
            <a:pPr algn="l"/>
            <a:endParaRPr lang="en-US" sz="1100" spc="-20"/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666D141E-998E-9B73-96F5-7FC087C3310C}"/>
              </a:ext>
            </a:extLst>
          </p:cNvPr>
          <p:cNvSpPr txBox="1"/>
          <p:nvPr/>
        </p:nvSpPr>
        <p:spPr>
          <a:xfrm>
            <a:off x="466575" y="1997536"/>
            <a:ext cx="3970750" cy="4591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endParaRPr lang="en-US" sz="600" b="1" spc="-20">
              <a:latin typeface="Aptos"/>
            </a:endParaRPr>
          </a:p>
          <a:p>
            <a:pPr algn="l"/>
            <a:r>
              <a:rPr lang="en-US" sz="1100" spc="-20" err="1">
                <a:latin typeface="Calibri"/>
                <a:ea typeface="Calibri"/>
                <a:cs typeface="Calibri"/>
              </a:rPr>
              <a:t>Permitir</a:t>
            </a:r>
            <a:r>
              <a:rPr lang="en-US" sz="1100" spc="-20">
                <a:latin typeface="Calibri"/>
                <a:ea typeface="Calibri"/>
                <a:cs typeface="Calibri"/>
              </a:rPr>
              <a:t> </a:t>
            </a:r>
            <a:r>
              <a:rPr lang="en-US" sz="1100" spc="-20">
                <a:latin typeface="Aptos"/>
              </a:rPr>
              <a:t>consulta </a:t>
            </a:r>
            <a:r>
              <a:rPr lang="en-US" sz="1100" spc="-20" err="1">
                <a:latin typeface="Aptos"/>
              </a:rPr>
              <a:t>imediata</a:t>
            </a:r>
            <a:r>
              <a:rPr lang="en-US" sz="1100" spc="-20">
                <a:latin typeface="Aptos"/>
              </a:rPr>
              <a:t> da </a:t>
            </a:r>
            <a:r>
              <a:rPr lang="en-US" sz="1100" spc="-20" err="1">
                <a:latin typeface="Aptos"/>
              </a:rPr>
              <a:t>disponibilidade</a:t>
            </a:r>
            <a:r>
              <a:rPr lang="en-US" sz="1100" spc="-20">
                <a:latin typeface="Aptos"/>
              </a:rPr>
              <a:t> das </a:t>
            </a:r>
            <a:r>
              <a:rPr lang="en-US" sz="1100" spc="-20" err="1">
                <a:latin typeface="Aptos"/>
              </a:rPr>
              <a:t>obras</a:t>
            </a:r>
            <a:r>
              <a:rPr lang="en-US" sz="1100" spc="-20">
                <a:latin typeface="Aptos"/>
              </a:rPr>
              <a:t>;</a:t>
            </a:r>
            <a:r>
              <a:rPr lang="en-US" sz="1100" spc="-20">
                <a:latin typeface="Arial"/>
                <a:cs typeface="Arial"/>
              </a:rPr>
              <a:t> </a:t>
            </a:r>
            <a:endParaRPr lang="en-US" sz="1100"/>
          </a:p>
          <a:p>
            <a:pPr algn="l"/>
            <a:endParaRPr lang="en-US" sz="1100" spc="-20"/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97FCDA53-9ED5-6558-8B3F-CDD2E755DCD0}"/>
              </a:ext>
            </a:extLst>
          </p:cNvPr>
          <p:cNvSpPr txBox="1"/>
          <p:nvPr/>
        </p:nvSpPr>
        <p:spPr>
          <a:xfrm>
            <a:off x="461175" y="2460651"/>
            <a:ext cx="3970750" cy="55143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1100" spc="-20" err="1"/>
              <a:t>Facilitar</a:t>
            </a:r>
            <a:r>
              <a:rPr lang="en-US" sz="1100" spc="-20"/>
              <a:t> a </a:t>
            </a:r>
            <a:r>
              <a:rPr lang="en-US" sz="1100" spc="-20" err="1"/>
              <a:t>descoberta</a:t>
            </a:r>
            <a:r>
              <a:rPr lang="en-US" sz="1100" spc="-20"/>
              <a:t> de </a:t>
            </a:r>
            <a:r>
              <a:rPr lang="en-US" sz="1100" spc="-20" err="1"/>
              <a:t>novos</a:t>
            </a:r>
            <a:r>
              <a:rPr lang="en-US" sz="1100" spc="-20"/>
              <a:t> </a:t>
            </a:r>
            <a:r>
              <a:rPr lang="en-US" sz="1100" spc="-20" err="1"/>
              <a:t>títulos</a:t>
            </a:r>
            <a:r>
              <a:rPr lang="en-US" sz="1100" spc="-20"/>
              <a:t> e </a:t>
            </a:r>
            <a:r>
              <a:rPr lang="en-US" sz="1100" spc="-20" err="1"/>
              <a:t>autores</a:t>
            </a:r>
            <a:r>
              <a:rPr lang="en-US" sz="1100" spc="-20"/>
              <a:t>.</a:t>
            </a:r>
            <a:r>
              <a:rPr lang="en-US" sz="1100" spc="-20">
                <a:latin typeface="Arial"/>
                <a:cs typeface="Arial"/>
              </a:rPr>
              <a:t> </a:t>
            </a:r>
            <a:endParaRPr lang="en-US" sz="1100"/>
          </a:p>
          <a:p>
            <a:pPr algn="l"/>
            <a:endParaRPr lang="en-US" sz="1200" spc="-20">
              <a:latin typeface="Arial"/>
              <a:cs typeface="Arial"/>
            </a:endParaRPr>
          </a:p>
          <a:p>
            <a:pPr algn="l"/>
            <a:endParaRPr lang="en-US" sz="1100" spc="-20"/>
          </a:p>
        </p:txBody>
      </p:sp>
      <p:pic>
        <p:nvPicPr>
          <p:cNvPr id="19" name="object 10">
            <a:extLst>
              <a:ext uri="{FF2B5EF4-FFF2-40B4-BE49-F238E27FC236}">
                <a16:creationId xmlns:a16="http://schemas.microsoft.com/office/drawing/2014/main" id="{274B9FD0-C9BF-4236-859D-75DAAC436C4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2857" y="1786269"/>
            <a:ext cx="76809" cy="76809"/>
          </a:xfrm>
          <a:prstGeom prst="rect">
            <a:avLst/>
          </a:prstGeom>
        </p:spPr>
      </p:pic>
      <p:pic>
        <p:nvPicPr>
          <p:cNvPr id="20" name="object 10">
            <a:extLst>
              <a:ext uri="{FF2B5EF4-FFF2-40B4-BE49-F238E27FC236}">
                <a16:creationId xmlns:a16="http://schemas.microsoft.com/office/drawing/2014/main" id="{0F14769A-0134-CA3F-AF50-5E4D7A9CC6D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2763" y="2149392"/>
            <a:ext cx="76809" cy="76809"/>
          </a:xfrm>
          <a:prstGeom prst="rect">
            <a:avLst/>
          </a:prstGeom>
        </p:spPr>
      </p:pic>
      <p:pic>
        <p:nvPicPr>
          <p:cNvPr id="21" name="object 10">
            <a:extLst>
              <a:ext uri="{FF2B5EF4-FFF2-40B4-BE49-F238E27FC236}">
                <a16:creationId xmlns:a16="http://schemas.microsoft.com/office/drawing/2014/main" id="{33FEA25F-22CA-3609-4115-73B92E19C533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2732" y="2528305"/>
            <a:ext cx="76809" cy="76809"/>
          </a:xfrm>
          <a:prstGeom prst="rect">
            <a:avLst/>
          </a:prstGeom>
        </p:spPr>
      </p:pic>
      <p:sp>
        <p:nvSpPr>
          <p:cNvPr id="22" name="object 9">
            <a:extLst>
              <a:ext uri="{FF2B5EF4-FFF2-40B4-BE49-F238E27FC236}">
                <a16:creationId xmlns:a16="http://schemas.microsoft.com/office/drawing/2014/main" id="{F4BC263D-7EA8-25DE-F8B1-1C2BD0E29616}"/>
              </a:ext>
            </a:extLst>
          </p:cNvPr>
          <p:cNvSpPr txBox="1"/>
          <p:nvPr/>
        </p:nvSpPr>
        <p:spPr>
          <a:xfrm>
            <a:off x="466439" y="2739572"/>
            <a:ext cx="3970750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endParaRPr lang="en-US" sz="600" b="1" spc="-20">
              <a:latin typeface="Aptos"/>
            </a:endParaRPr>
          </a:p>
          <a:p>
            <a:pPr algn="l"/>
            <a:r>
              <a:rPr lang="en-US" sz="1100" spc="-20" err="1"/>
              <a:t>Melhorar</a:t>
            </a:r>
            <a:r>
              <a:rPr lang="en-US" sz="1100" spc="-20"/>
              <a:t> a </a:t>
            </a:r>
            <a:r>
              <a:rPr lang="en-US" sz="1100" spc="-20" err="1"/>
              <a:t>experiência</a:t>
            </a:r>
            <a:r>
              <a:rPr lang="en-US" sz="1100" spc="-20"/>
              <a:t> do </a:t>
            </a:r>
            <a:r>
              <a:rPr lang="en-US" sz="1100" spc="-20" err="1"/>
              <a:t>usuário</a:t>
            </a:r>
            <a:r>
              <a:rPr lang="en-US" sz="1100" spc="-20"/>
              <a:t> </a:t>
            </a:r>
            <a:r>
              <a:rPr lang="en-US" sz="1100" spc="-20" err="1"/>
              <a:t>por</a:t>
            </a:r>
            <a:r>
              <a:rPr lang="en-US" sz="1100" spc="-20"/>
              <a:t> </a:t>
            </a:r>
            <a:r>
              <a:rPr lang="en-US" sz="1100" spc="-20" err="1"/>
              <a:t>meio</a:t>
            </a:r>
            <a:r>
              <a:rPr lang="en-US" sz="1100" spc="-20"/>
              <a:t> de interface simples e </a:t>
            </a:r>
            <a:r>
              <a:rPr lang="en-US" sz="1100" spc="-20" err="1"/>
              <a:t>eficiente</a:t>
            </a:r>
            <a:r>
              <a:rPr lang="en-US" sz="1100" spc="-20"/>
              <a:t>;</a:t>
            </a:r>
            <a:r>
              <a:rPr lang="en-US" sz="1100" spc="-20">
                <a:latin typeface="Arial"/>
                <a:cs typeface="Arial"/>
              </a:rPr>
              <a:t> </a:t>
            </a:r>
            <a:endParaRPr lang="en-US" sz="1100"/>
          </a:p>
        </p:txBody>
      </p:sp>
      <p:pic>
        <p:nvPicPr>
          <p:cNvPr id="23" name="object 10">
            <a:extLst>
              <a:ext uri="{FF2B5EF4-FFF2-40B4-BE49-F238E27FC236}">
                <a16:creationId xmlns:a16="http://schemas.microsoft.com/office/drawing/2014/main" id="{AC9BC675-31A9-7A2F-0060-6552AAC3EE7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2638" y="2880903"/>
            <a:ext cx="76809" cy="7680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D0476-81EB-3F2A-E3E2-11DB6FD0B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943B56-B62E-700F-06EB-473AF67BCE9E}"/>
              </a:ext>
            </a:extLst>
          </p:cNvPr>
          <p:cNvSpPr txBox="1"/>
          <p:nvPr/>
        </p:nvSpPr>
        <p:spPr>
          <a:xfrm>
            <a:off x="1554657" y="-16363"/>
            <a:ext cx="654685" cy="33502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248920" algn="r">
              <a:lnSpc>
                <a:spcPct val="119700"/>
              </a:lnSpc>
              <a:spcBef>
                <a:spcPts val="100"/>
              </a:spcBef>
            </a:pPr>
            <a:r>
              <a:rPr lang="pt-BR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r>
              <a:rPr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Projeto</a:t>
            </a:r>
            <a:r>
              <a:rPr sz="600" spc="-25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do</a:t>
            </a:r>
            <a:r>
              <a:rPr sz="600" spc="-2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 spc="-1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sistema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lang="en-US" sz="600" spc="-10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Desenvolvimento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6960AD5-52D8-27B2-E01D-EA3A097A75D1}"/>
              </a:ext>
            </a:extLst>
          </p:cNvPr>
          <p:cNvSpPr/>
          <p:nvPr/>
        </p:nvSpPr>
        <p:spPr>
          <a:xfrm>
            <a:off x="2303995" y="0"/>
            <a:ext cx="2304415" cy="363220"/>
          </a:xfrm>
          <a:custGeom>
            <a:avLst/>
            <a:gdLst/>
            <a:ahLst/>
            <a:cxnLst/>
            <a:rect l="l" t="t" r="r" b="b"/>
            <a:pathLst>
              <a:path w="2304415" h="363220">
                <a:moveTo>
                  <a:pt x="2303995" y="0"/>
                </a:moveTo>
                <a:lnTo>
                  <a:pt x="0" y="0"/>
                </a:lnTo>
                <a:lnTo>
                  <a:pt x="0" y="362788"/>
                </a:lnTo>
                <a:lnTo>
                  <a:pt x="2303995" y="362788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450DB02-74F9-9112-05FA-CEFF2A28FE4A}"/>
              </a:ext>
            </a:extLst>
          </p:cNvPr>
          <p:cNvSpPr txBox="1"/>
          <p:nvPr/>
        </p:nvSpPr>
        <p:spPr>
          <a:xfrm>
            <a:off x="2399296" y="38335"/>
            <a:ext cx="605790" cy="244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100"/>
              </a:spcBef>
            </a:pPr>
            <a:r>
              <a:rPr sz="600" spc="-10">
                <a:solidFill>
                  <a:srgbClr val="9898D8"/>
                </a:solidFill>
                <a:latin typeface="Arial MT"/>
                <a:cs typeface="Arial MT"/>
                <a:hlinkClick r:id="rId2" action="ppaction://hlinksldjump"/>
              </a:rPr>
              <a:t>Contextualização</a:t>
            </a:r>
            <a:r>
              <a:rPr sz="600" spc="500">
                <a:solidFill>
                  <a:srgbClr val="9898D8"/>
                </a:solidFill>
                <a:latin typeface="Arial MT"/>
                <a:cs typeface="Arial MT"/>
              </a:rPr>
              <a:t> </a:t>
            </a:r>
            <a:r>
              <a:rPr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Objetivos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5" name="object 5">
            <a:extLst>
              <a:ext uri="{FF2B5EF4-FFF2-40B4-BE49-F238E27FC236}">
                <a16:creationId xmlns:a16="http://schemas.microsoft.com/office/drawing/2014/main" id="{49C31C39-C11B-9A1C-56EA-DE750502ECF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62786"/>
            <a:ext cx="4608060" cy="30052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644B5AC1-5530-9CFA-A17F-18921404A2DB}"/>
              </a:ext>
            </a:extLst>
          </p:cNvPr>
          <p:cNvSpPr txBox="1"/>
          <p:nvPr/>
        </p:nvSpPr>
        <p:spPr>
          <a:xfrm>
            <a:off x="145948" y="358383"/>
            <a:ext cx="2390178" cy="232756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pt-BR" sz="1400" spc="-10">
                <a:solidFill>
                  <a:srgbClr val="FFFFFF"/>
                </a:solidFill>
                <a:latin typeface="Arial MT"/>
                <a:cs typeface="Arial MT"/>
              </a:rPr>
              <a:t>Perfis de usuário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B429A9CE-2138-C827-5918-433F8105BB4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226648" y="590"/>
            <a:ext cx="378219" cy="360000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F0A43BDB-66E6-1DDE-9F31-F90B0CAE62D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9842" y="945202"/>
            <a:ext cx="76809" cy="76809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54A1404A-7736-E9C6-0C25-C5C958B0D8AF}"/>
              </a:ext>
            </a:extLst>
          </p:cNvPr>
          <p:cNvSpPr txBox="1"/>
          <p:nvPr/>
        </p:nvSpPr>
        <p:spPr>
          <a:xfrm>
            <a:off x="444994" y="863105"/>
            <a:ext cx="3973472" cy="107824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1100" spc="-10" err="1"/>
              <a:t>Descrição</a:t>
            </a:r>
            <a:endParaRPr lang="en-US" sz="1100" spc="-10" err="1">
              <a:solidFill>
                <a:srgbClr val="000000"/>
              </a:solidFill>
            </a:endParaRPr>
          </a:p>
          <a:p>
            <a:pPr algn="l"/>
            <a:endParaRPr lang="en-US" sz="600" spc="-10"/>
          </a:p>
          <a:p>
            <a:pPr algn="l"/>
            <a:r>
              <a:rPr lang="en-US" sz="1100" spc="-10" err="1"/>
              <a:t>Usuário</a:t>
            </a:r>
            <a:r>
              <a:rPr lang="en-US" sz="1100" spc="-10"/>
              <a:t> final da </a:t>
            </a:r>
            <a:r>
              <a:rPr lang="en-US" sz="1100" spc="-10" err="1"/>
              <a:t>plataforma</a:t>
            </a:r>
            <a:endParaRPr lang="en-US" sz="1100" spc="-10"/>
          </a:p>
          <a:p>
            <a:pPr algn="l"/>
            <a:endParaRPr lang="en-US" sz="600" spc="-10"/>
          </a:p>
          <a:p>
            <a:pPr algn="l"/>
            <a:r>
              <a:rPr lang="en-US" sz="1100" spc="-10" err="1"/>
              <a:t>Acessa</a:t>
            </a:r>
            <a:r>
              <a:rPr lang="en-US" sz="1100" spc="-10"/>
              <a:t> a </a:t>
            </a:r>
            <a:r>
              <a:rPr lang="en-US" sz="1100" spc="-10" err="1"/>
              <a:t>biblioteca</a:t>
            </a:r>
            <a:r>
              <a:rPr lang="en-US" sz="1100" spc="-10"/>
              <a:t> para consulta e </a:t>
            </a:r>
            <a:r>
              <a:rPr lang="en-US" sz="1100" spc="-10" err="1"/>
              <a:t>exploração</a:t>
            </a:r>
            <a:r>
              <a:rPr lang="en-US" sz="1100" spc="-10"/>
              <a:t> do </a:t>
            </a:r>
            <a:r>
              <a:rPr lang="en-US" sz="1100" spc="-10" err="1"/>
              <a:t>acervo</a:t>
            </a:r>
            <a:endParaRPr lang="en-US" err="1"/>
          </a:p>
          <a:p>
            <a:pPr algn="l"/>
            <a:endParaRPr lang="en-US" sz="1100" spc="-10"/>
          </a:p>
          <a:p>
            <a:pPr marL="12700" marR="5080">
              <a:lnSpc>
                <a:spcPct val="125299"/>
              </a:lnSpc>
              <a:spcBef>
                <a:spcPts val="100"/>
              </a:spcBef>
            </a:pPr>
            <a:endParaRPr lang="en-US" sz="1100" spc="-10"/>
          </a:p>
        </p:txBody>
      </p: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045CEF8F-9816-CFB6-1062-F0DF4F6E3780}"/>
              </a:ext>
            </a:extLst>
          </p:cNvPr>
          <p:cNvGrpSpPr/>
          <p:nvPr/>
        </p:nvGrpSpPr>
        <p:grpSpPr>
          <a:xfrm>
            <a:off x="0" y="3312071"/>
            <a:ext cx="4608195" cy="144145"/>
            <a:chOff x="0" y="3312071"/>
            <a:chExt cx="4608195" cy="144145"/>
          </a:xfrm>
        </p:grpSpPr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A969A987-AE9B-A186-7993-24D4E5B7B8C2}"/>
                </a:ext>
              </a:extLst>
            </p:cNvPr>
            <p:cNvSpPr/>
            <p:nvPr/>
          </p:nvSpPr>
          <p:spPr>
            <a:xfrm>
              <a:off x="0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D26612F3-328E-671B-2FAE-41C09703FB79}"/>
                </a:ext>
              </a:extLst>
            </p:cNvPr>
            <p:cNvSpPr/>
            <p:nvPr/>
          </p:nvSpPr>
          <p:spPr>
            <a:xfrm>
              <a:off x="2303995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>
            <a:extLst>
              <a:ext uri="{FF2B5EF4-FFF2-40B4-BE49-F238E27FC236}">
                <a16:creationId xmlns:a16="http://schemas.microsoft.com/office/drawing/2014/main" id="{97BEB9EF-314D-70DC-1641-B9620C7AF87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50510" y="3315847"/>
            <a:ext cx="1858261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pc="-60"/>
              <a:t>Bruno, Carlos, Elias, Jennifer e Simone</a:t>
            </a:r>
            <a:endParaRPr lang="en-US" spc="-6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6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27BE2D3-7A81-945F-7087-0FB348979160}"/>
              </a:ext>
            </a:extLst>
          </p:cNvPr>
          <p:cNvSpPr txBox="1"/>
          <p:nvPr/>
        </p:nvSpPr>
        <p:spPr>
          <a:xfrm>
            <a:off x="2399296" y="3326286"/>
            <a:ext cx="841375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z="600" spc="-10" err="1">
                <a:solidFill>
                  <a:srgbClr val="FFFFFF"/>
                </a:solidFill>
              </a:rPr>
              <a:t>LêUai</a:t>
            </a:r>
            <a:r>
              <a:rPr lang="pt-BR" sz="600" spc="-10">
                <a:solidFill>
                  <a:srgbClr val="FFFFFF"/>
                </a:solidFill>
              </a:rPr>
              <a:t> - </a:t>
            </a:r>
            <a:r>
              <a:rPr lang="pt-BR" sz="600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Biblioteca Virtual </a:t>
            </a:r>
            <a:endParaRPr lang="en-US" sz="600" spc="-1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z="600" spc="-1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AEE3D3D1-24BD-B146-EE84-48B505A48CC6}"/>
              </a:ext>
            </a:extLst>
          </p:cNvPr>
          <p:cNvSpPr txBox="1"/>
          <p:nvPr/>
        </p:nvSpPr>
        <p:spPr>
          <a:xfrm>
            <a:off x="444866" y="1809976"/>
            <a:ext cx="3973424" cy="122854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1100" spc="-10" err="1"/>
              <a:t>Necessidades</a:t>
            </a:r>
            <a:r>
              <a:rPr lang="en-US" sz="1100" spc="-10"/>
              <a:t>:</a:t>
            </a:r>
            <a:endParaRPr lang="pt-BR"/>
          </a:p>
          <a:p>
            <a:pPr algn="l"/>
            <a:endParaRPr lang="en-US" sz="600" spc="-10"/>
          </a:p>
          <a:p>
            <a:pPr algn="l"/>
            <a:r>
              <a:rPr lang="en-US" sz="1100" spc="-10" err="1"/>
              <a:t>Buscar</a:t>
            </a:r>
            <a:r>
              <a:rPr lang="en-US" sz="1100" spc="-10"/>
              <a:t> </a:t>
            </a:r>
            <a:r>
              <a:rPr lang="en-US" sz="1100" spc="-10" err="1"/>
              <a:t>livros</a:t>
            </a:r>
            <a:r>
              <a:rPr lang="en-US" sz="1100" spc="-10"/>
              <a:t> </a:t>
            </a:r>
            <a:r>
              <a:rPr lang="en-US" sz="1100" spc="-10" err="1"/>
              <a:t>por</a:t>
            </a:r>
            <a:r>
              <a:rPr lang="en-US" sz="1100" spc="-10"/>
              <a:t> </a:t>
            </a:r>
            <a:r>
              <a:rPr lang="en-US" sz="1100" spc="-10" err="1"/>
              <a:t>título</a:t>
            </a:r>
            <a:r>
              <a:rPr lang="en-US" sz="1100" spc="-10"/>
              <a:t>, </a:t>
            </a:r>
            <a:r>
              <a:rPr lang="en-US" sz="1100" spc="-10" err="1"/>
              <a:t>autor</a:t>
            </a:r>
            <a:r>
              <a:rPr lang="en-US" sz="1100" spc="-10"/>
              <a:t> </a:t>
            </a:r>
            <a:r>
              <a:rPr lang="en-US" sz="1100" spc="-10" err="1"/>
              <a:t>ou</a:t>
            </a:r>
            <a:r>
              <a:rPr lang="en-US" sz="1100" spc="-10"/>
              <a:t> </a:t>
            </a:r>
            <a:r>
              <a:rPr lang="en-US" sz="1100" spc="-10" err="1"/>
              <a:t>categoria</a:t>
            </a:r>
            <a:endParaRPr lang="en-US" err="1"/>
          </a:p>
          <a:p>
            <a:pPr algn="l"/>
            <a:endParaRPr lang="en-US" sz="600" spc="-10"/>
          </a:p>
          <a:p>
            <a:pPr algn="l"/>
            <a:r>
              <a:rPr lang="en-US" sz="1100" spc="-10" err="1"/>
              <a:t>Verificar</a:t>
            </a:r>
            <a:r>
              <a:rPr lang="en-US" sz="1100" spc="-10"/>
              <a:t> </a:t>
            </a:r>
            <a:r>
              <a:rPr lang="en-US" sz="1100" spc="-10" err="1"/>
              <a:t>disponibilidade</a:t>
            </a:r>
            <a:r>
              <a:rPr lang="en-US" sz="1100" spc="-10"/>
              <a:t> das </a:t>
            </a:r>
            <a:r>
              <a:rPr lang="en-US" sz="1100" spc="-10" err="1"/>
              <a:t>obras</a:t>
            </a:r>
            <a:endParaRPr lang="en-US" err="1"/>
          </a:p>
          <a:p>
            <a:pPr algn="l"/>
            <a:endParaRPr lang="en-US" sz="600" spc="-10"/>
          </a:p>
          <a:p>
            <a:pPr algn="l"/>
            <a:r>
              <a:rPr lang="en-US" sz="1100" spc="-10" err="1"/>
              <a:t>Acessar</a:t>
            </a:r>
            <a:r>
              <a:rPr lang="en-US" sz="1100" spc="-10"/>
              <a:t> </a:t>
            </a:r>
            <a:r>
              <a:rPr lang="en-US" sz="1100" spc="-10" err="1"/>
              <a:t>informações</a:t>
            </a:r>
            <a:r>
              <a:rPr lang="en-US" sz="1100" spc="-10"/>
              <a:t> </a:t>
            </a:r>
            <a:r>
              <a:rPr lang="en-US" sz="1100" spc="-10" err="1"/>
              <a:t>detalhadas</a:t>
            </a:r>
            <a:r>
              <a:rPr lang="en-US" sz="1100" spc="-10"/>
              <a:t> dos </a:t>
            </a:r>
            <a:r>
              <a:rPr lang="en-US" sz="1100" spc="-10" err="1"/>
              <a:t>livros</a:t>
            </a:r>
            <a:endParaRPr lang="en-US" err="1"/>
          </a:p>
          <a:p>
            <a:pPr algn="l"/>
            <a:endParaRPr lang="en-US" sz="600" spc="-10"/>
          </a:p>
          <a:p>
            <a:pPr algn="l"/>
            <a:r>
              <a:rPr lang="en-US" sz="1100" spc="-10" err="1"/>
              <a:t>Navegar</a:t>
            </a:r>
            <a:r>
              <a:rPr lang="en-US" sz="1100" spc="-10"/>
              <a:t> </a:t>
            </a:r>
            <a:r>
              <a:rPr lang="en-US" sz="1100" spc="-10" err="1"/>
              <a:t>pelo</a:t>
            </a:r>
            <a:r>
              <a:rPr lang="en-US" sz="1100" spc="-10"/>
              <a:t> </a:t>
            </a:r>
            <a:r>
              <a:rPr lang="en-US" sz="1100" spc="-10" err="1"/>
              <a:t>catálogo</a:t>
            </a:r>
            <a:r>
              <a:rPr lang="en-US" sz="1100" spc="-10"/>
              <a:t> de forma simples e </a:t>
            </a:r>
            <a:r>
              <a:rPr lang="en-US" sz="1100" spc="-10" err="1"/>
              <a:t>prática</a:t>
            </a:r>
            <a:endParaRPr lang="en-US" err="1"/>
          </a:p>
        </p:txBody>
      </p:sp>
      <p:pic>
        <p:nvPicPr>
          <p:cNvPr id="16" name="object 8">
            <a:extLst>
              <a:ext uri="{FF2B5EF4-FFF2-40B4-BE49-F238E27FC236}">
                <a16:creationId xmlns:a16="http://schemas.microsoft.com/office/drawing/2014/main" id="{AE5777A2-5551-56A7-E0AE-F3EACD0F812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9747" y="1860907"/>
            <a:ext cx="76809" cy="7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42231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4657" y="-16363"/>
            <a:ext cx="654685" cy="33502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248920" algn="r">
              <a:lnSpc>
                <a:spcPct val="119700"/>
              </a:lnSpc>
              <a:spcBef>
                <a:spcPts val="100"/>
              </a:spcBef>
            </a:pPr>
            <a:r>
              <a:rPr lang="pt-BR" sz="600" spc="-10">
                <a:solidFill>
                  <a:srgbClr val="7F7F7F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Projeto</a:t>
            </a:r>
            <a:r>
              <a:rPr sz="600" spc="-25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do</a:t>
            </a:r>
            <a:r>
              <a:rPr sz="600" spc="-2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 spc="-1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sistema</a:t>
            </a:r>
            <a:r>
              <a:rPr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600" spc="-10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Desenvolvimento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363220"/>
          </a:xfrm>
          <a:custGeom>
            <a:avLst/>
            <a:gdLst/>
            <a:ahLst/>
            <a:cxnLst/>
            <a:rect l="l" t="t" r="r" b="b"/>
            <a:pathLst>
              <a:path w="2304415" h="363220">
                <a:moveTo>
                  <a:pt x="2303995" y="0"/>
                </a:moveTo>
                <a:lnTo>
                  <a:pt x="0" y="0"/>
                </a:lnTo>
                <a:lnTo>
                  <a:pt x="0" y="362788"/>
                </a:lnTo>
                <a:lnTo>
                  <a:pt x="2303995" y="362788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99296" y="-16363"/>
            <a:ext cx="42608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100"/>
              </a:spcBef>
            </a:pPr>
            <a:r>
              <a:rPr sz="600" spc="-10">
                <a:solidFill>
                  <a:srgbClr val="9898D8"/>
                </a:solidFill>
                <a:latin typeface="Arial MT"/>
                <a:cs typeface="Arial MT"/>
                <a:hlinkClick r:id="rId4" action="ppaction://hlinksldjump"/>
              </a:rPr>
              <a:t>Usuários</a:t>
            </a:r>
            <a:r>
              <a:rPr sz="600" spc="500">
                <a:solidFill>
                  <a:srgbClr val="9898D8"/>
                </a:solidFill>
                <a:latin typeface="Arial MT"/>
                <a:cs typeface="Arial MT"/>
              </a:rPr>
              <a:t> </a:t>
            </a:r>
            <a:r>
              <a:rPr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Requisitos</a:t>
            </a:r>
            <a:r>
              <a:rPr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600" spc="-20">
                <a:solidFill>
                  <a:srgbClr val="9898D8"/>
                </a:solidFill>
                <a:latin typeface="Arial MT"/>
                <a:cs typeface="Arial MT"/>
                <a:hlinkClick r:id="rId6" action="ppaction://hlinksldjump"/>
              </a:rPr>
              <a:t>Tecnologias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62786"/>
            <a:ext cx="4608060" cy="3005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5948" y="349476"/>
            <a:ext cx="26435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Histórias</a:t>
            </a:r>
            <a:r>
              <a:rPr sz="140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de</a:t>
            </a:r>
            <a:r>
              <a:rPr sz="14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usuário</a:t>
            </a:r>
            <a:r>
              <a:rPr sz="14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sz="14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Requisitos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26648" y="590"/>
            <a:ext cx="378219" cy="360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9016" y="1252550"/>
            <a:ext cx="76809" cy="7680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02404" y="1180642"/>
            <a:ext cx="3333115" cy="169983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 algn="l">
              <a:lnSpc>
                <a:spcPct val="102600"/>
              </a:lnSpc>
              <a:spcBef>
                <a:spcPts val="55"/>
              </a:spcBef>
            </a:pPr>
            <a:r>
              <a:rPr lang="pt-BR" sz="1100" spc="-10">
                <a:solidFill>
                  <a:srgbClr val="000000"/>
                </a:solidFill>
              </a:rPr>
              <a:t>Personas → base das histórias</a:t>
            </a:r>
            <a:endParaRPr lang="pt-BR"/>
          </a:p>
        </p:txBody>
      </p:sp>
      <p:grpSp>
        <p:nvGrpSpPr>
          <p:cNvPr id="10" name="object 10"/>
          <p:cNvGrpSpPr/>
          <p:nvPr/>
        </p:nvGrpSpPr>
        <p:grpSpPr>
          <a:xfrm>
            <a:off x="0" y="3312071"/>
            <a:ext cx="4608195" cy="144145"/>
            <a:chOff x="0" y="3312071"/>
            <a:chExt cx="4608195" cy="144145"/>
          </a:xfrm>
        </p:grpSpPr>
        <p:sp>
          <p:nvSpPr>
            <p:cNvPr id="11" name="object 11"/>
            <p:cNvSpPr/>
            <p:nvPr/>
          </p:nvSpPr>
          <p:spPr>
            <a:xfrm>
              <a:off x="0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569790" y="3315847"/>
            <a:ext cx="1638981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pc="-60"/>
              <a:t>Bruno, Carlos, Elias, Jennifer e Simone</a:t>
            </a:r>
            <a:endParaRPr lang="en-US" spc="-6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60"/>
          </a:p>
        </p:txBody>
      </p:sp>
      <p:sp>
        <p:nvSpPr>
          <p:cNvPr id="14" name="object 14"/>
          <p:cNvSpPr txBox="1"/>
          <p:nvPr/>
        </p:nvSpPr>
        <p:spPr>
          <a:xfrm>
            <a:off x="2399296" y="3326286"/>
            <a:ext cx="841375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z="600" spc="-10" err="1">
                <a:solidFill>
                  <a:srgbClr val="FFFFFF"/>
                </a:solidFill>
              </a:rPr>
              <a:t>LêUai</a:t>
            </a:r>
            <a:r>
              <a:rPr lang="pt-BR" sz="600" spc="-10">
                <a:solidFill>
                  <a:srgbClr val="FFFFFF"/>
                </a:solidFill>
              </a:rPr>
              <a:t> - </a:t>
            </a:r>
            <a:r>
              <a:rPr lang="pt-BR" sz="600" spc="-1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Biblioteca Virtual </a:t>
            </a:r>
            <a:endParaRPr lang="en-US" sz="600" spc="-1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z="600" spc="-10">
              <a:solidFill>
                <a:srgbClr val="FFFFFF"/>
              </a:solidFill>
              <a:latin typeface="Arial MT"/>
              <a:cs typeface="Arial MT"/>
            </a:endParaRPr>
          </a:p>
        </p:txBody>
      </p:sp>
      <p:pic>
        <p:nvPicPr>
          <p:cNvPr id="16" name="object 8">
            <a:extLst>
              <a:ext uri="{FF2B5EF4-FFF2-40B4-BE49-F238E27FC236}">
                <a16:creationId xmlns:a16="http://schemas.microsoft.com/office/drawing/2014/main" id="{A18E29A8-AE55-5D4F-6486-1AC30D381BB7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8098" y="1461246"/>
            <a:ext cx="76809" cy="76809"/>
          </a:xfrm>
          <a:prstGeom prst="rect">
            <a:avLst/>
          </a:prstGeom>
        </p:spPr>
      </p:pic>
      <p:sp>
        <p:nvSpPr>
          <p:cNvPr id="17" name="object 9">
            <a:extLst>
              <a:ext uri="{FF2B5EF4-FFF2-40B4-BE49-F238E27FC236}">
                <a16:creationId xmlns:a16="http://schemas.microsoft.com/office/drawing/2014/main" id="{8477374B-1A83-7FF4-2585-E8ED57FB78F8}"/>
              </a:ext>
            </a:extLst>
          </p:cNvPr>
          <p:cNvSpPr txBox="1"/>
          <p:nvPr/>
        </p:nvSpPr>
        <p:spPr>
          <a:xfrm>
            <a:off x="301473" y="1389338"/>
            <a:ext cx="2940440" cy="344325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 algn="l">
              <a:lnSpc>
                <a:spcPct val="102600"/>
              </a:lnSpc>
              <a:spcBef>
                <a:spcPts val="55"/>
              </a:spcBef>
            </a:pPr>
            <a:r>
              <a:rPr lang="pt-BR" sz="1100" spc="-10"/>
              <a:t>Principais necessidades: busca • filtros • detalhes • favoritos • leitura online</a:t>
            </a:r>
            <a:endParaRPr lang="pt-BR"/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5E206402-9B99-71E2-2009-EAB7ED84F6C9}"/>
              </a:ext>
            </a:extLst>
          </p:cNvPr>
          <p:cNvSpPr txBox="1"/>
          <p:nvPr/>
        </p:nvSpPr>
        <p:spPr>
          <a:xfrm>
            <a:off x="167001" y="956669"/>
            <a:ext cx="3333115" cy="169983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 algn="l">
              <a:lnSpc>
                <a:spcPct val="102600"/>
              </a:lnSpc>
              <a:spcBef>
                <a:spcPts val="55"/>
              </a:spcBef>
            </a:pPr>
            <a:r>
              <a:rPr lang="pt-BR" sz="1100" b="1" spc="-10"/>
              <a:t>Histórias de Usuários</a:t>
            </a:r>
          </a:p>
        </p:txBody>
      </p:sp>
      <p:pic>
        <p:nvPicPr>
          <p:cNvPr id="22" name="object 8">
            <a:extLst>
              <a:ext uri="{FF2B5EF4-FFF2-40B4-BE49-F238E27FC236}">
                <a16:creationId xmlns:a16="http://schemas.microsoft.com/office/drawing/2014/main" id="{00FA3644-74E9-56BB-B3F5-DE8271A861C4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82234" y="1821085"/>
            <a:ext cx="76809" cy="76809"/>
          </a:xfrm>
          <a:prstGeom prst="rect">
            <a:avLst/>
          </a:prstGeom>
        </p:spPr>
      </p:pic>
      <p:sp>
        <p:nvSpPr>
          <p:cNvPr id="24" name="object 9">
            <a:extLst>
              <a:ext uri="{FF2B5EF4-FFF2-40B4-BE49-F238E27FC236}">
                <a16:creationId xmlns:a16="http://schemas.microsoft.com/office/drawing/2014/main" id="{96129269-FA81-6D93-6725-7827D5A85BD5}"/>
              </a:ext>
            </a:extLst>
          </p:cNvPr>
          <p:cNvSpPr txBox="1"/>
          <p:nvPr/>
        </p:nvSpPr>
        <p:spPr>
          <a:xfrm>
            <a:off x="330015" y="1770809"/>
            <a:ext cx="3333115" cy="169983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 algn="l">
              <a:lnSpc>
                <a:spcPct val="102600"/>
              </a:lnSpc>
              <a:spcBef>
                <a:spcPts val="55"/>
              </a:spcBef>
            </a:pPr>
            <a:r>
              <a:rPr lang="pt-BR" sz="1100" spc="-10"/>
              <a:t>Acessibilidade: fonte • temas</a:t>
            </a:r>
            <a:endParaRPr lang="pt-BR"/>
          </a:p>
        </p:txBody>
      </p:sp>
      <p:pic>
        <p:nvPicPr>
          <p:cNvPr id="25" name="object 8">
            <a:extLst>
              <a:ext uri="{FF2B5EF4-FFF2-40B4-BE49-F238E27FC236}">
                <a16:creationId xmlns:a16="http://schemas.microsoft.com/office/drawing/2014/main" id="{37F58045-4680-FAC4-3C00-3C9A8EA3CA90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3890" y="2293432"/>
            <a:ext cx="76809" cy="76809"/>
          </a:xfrm>
          <a:prstGeom prst="rect">
            <a:avLst/>
          </a:prstGeom>
        </p:spPr>
      </p:pic>
      <p:sp>
        <p:nvSpPr>
          <p:cNvPr id="26" name="object 9">
            <a:extLst>
              <a:ext uri="{FF2B5EF4-FFF2-40B4-BE49-F238E27FC236}">
                <a16:creationId xmlns:a16="http://schemas.microsoft.com/office/drawing/2014/main" id="{37E25562-2B0F-BC22-CFD8-7CE12588B98E}"/>
              </a:ext>
            </a:extLst>
          </p:cNvPr>
          <p:cNvSpPr txBox="1"/>
          <p:nvPr/>
        </p:nvSpPr>
        <p:spPr>
          <a:xfrm>
            <a:off x="301652" y="2243156"/>
            <a:ext cx="3333115" cy="169983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 algn="l">
              <a:lnSpc>
                <a:spcPct val="102600"/>
              </a:lnSpc>
              <a:spcBef>
                <a:spcPts val="55"/>
              </a:spcBef>
            </a:pPr>
            <a:r>
              <a:rPr lang="pt-BR" sz="1100" spc="-10"/>
              <a:t>Requisitos funcionais principais</a:t>
            </a:r>
            <a:endParaRPr lang="pt-BR"/>
          </a:p>
        </p:txBody>
      </p:sp>
      <p:pic>
        <p:nvPicPr>
          <p:cNvPr id="27" name="object 8">
            <a:extLst>
              <a:ext uri="{FF2B5EF4-FFF2-40B4-BE49-F238E27FC236}">
                <a16:creationId xmlns:a16="http://schemas.microsoft.com/office/drawing/2014/main" id="{3AA1DE44-2AAF-E235-146B-0DEAE486435A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8814" y="2481842"/>
            <a:ext cx="76809" cy="76809"/>
          </a:xfrm>
          <a:prstGeom prst="rect">
            <a:avLst/>
          </a:prstGeom>
        </p:spPr>
      </p:pic>
      <p:sp>
        <p:nvSpPr>
          <p:cNvPr id="28" name="object 9">
            <a:extLst>
              <a:ext uri="{FF2B5EF4-FFF2-40B4-BE49-F238E27FC236}">
                <a16:creationId xmlns:a16="http://schemas.microsoft.com/office/drawing/2014/main" id="{077606C5-4988-9222-1A8A-7F9C87581686}"/>
              </a:ext>
            </a:extLst>
          </p:cNvPr>
          <p:cNvSpPr txBox="1"/>
          <p:nvPr/>
        </p:nvSpPr>
        <p:spPr>
          <a:xfrm>
            <a:off x="306494" y="2431566"/>
            <a:ext cx="3328016" cy="344325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 algn="l">
              <a:lnSpc>
                <a:spcPct val="102600"/>
              </a:lnSpc>
              <a:spcBef>
                <a:spcPts val="55"/>
              </a:spcBef>
            </a:pPr>
            <a:r>
              <a:rPr lang="pt-BR" sz="1100" spc="-10"/>
              <a:t>Requisitos não funcionais (responsivo, rápido, acessível)</a:t>
            </a:r>
            <a:endParaRPr lang="pt-BR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4657" y="-16363"/>
            <a:ext cx="654685" cy="33502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248920" algn="r">
              <a:lnSpc>
                <a:spcPct val="119700"/>
              </a:lnSpc>
              <a:spcBef>
                <a:spcPts val="100"/>
              </a:spcBef>
            </a:pPr>
            <a:r>
              <a:rPr lang="pt-BR" sz="600" spc="-10">
                <a:solidFill>
                  <a:srgbClr val="7F7F7F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Projeto</a:t>
            </a:r>
            <a:r>
              <a:rPr sz="600" spc="-25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do</a:t>
            </a:r>
            <a:r>
              <a:rPr sz="600" spc="-2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 spc="-10">
                <a:solidFill>
                  <a:srgbClr val="FFFFFF"/>
                </a:solidFill>
                <a:latin typeface="Arial MT"/>
                <a:cs typeface="Arial MT"/>
                <a:hlinkClick r:id="" action="ppaction://noaction"/>
              </a:rPr>
              <a:t>sistema</a:t>
            </a:r>
            <a:r>
              <a:rPr sz="60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lang="en-US" sz="600" spc="-10">
                <a:solidFill>
                  <a:srgbClr val="7F7F7F"/>
                </a:solidFill>
                <a:latin typeface="Arial MT"/>
                <a:cs typeface="Arial MT"/>
                <a:hlinkClick r:id="rId3" action="ppaction://hlinksldjump"/>
              </a:rPr>
              <a:t>Desenvolvimento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363220"/>
          </a:xfrm>
          <a:custGeom>
            <a:avLst/>
            <a:gdLst/>
            <a:ahLst/>
            <a:cxnLst/>
            <a:rect l="l" t="t" r="r" b="b"/>
            <a:pathLst>
              <a:path w="2304415" h="363220">
                <a:moveTo>
                  <a:pt x="2303995" y="0"/>
                </a:moveTo>
                <a:lnTo>
                  <a:pt x="0" y="0"/>
                </a:lnTo>
                <a:lnTo>
                  <a:pt x="0" y="362788"/>
                </a:lnTo>
                <a:lnTo>
                  <a:pt x="2303995" y="362788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99296" y="-16363"/>
            <a:ext cx="426084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100"/>
              </a:spcBef>
            </a:pPr>
            <a:r>
              <a:rPr sz="600" spc="-10">
                <a:solidFill>
                  <a:srgbClr val="9898D8"/>
                </a:solidFill>
                <a:latin typeface="Arial MT"/>
                <a:cs typeface="Arial MT"/>
                <a:hlinkClick r:id="rId4" action="ppaction://hlinksldjump"/>
              </a:rPr>
              <a:t>Usuários</a:t>
            </a:r>
            <a:r>
              <a:rPr sz="600" spc="500">
                <a:solidFill>
                  <a:srgbClr val="9898D8"/>
                </a:solidFill>
                <a:latin typeface="Arial MT"/>
                <a:cs typeface="Arial MT"/>
              </a:rPr>
              <a:t> </a:t>
            </a:r>
            <a:r>
              <a:rPr sz="600" spc="-10">
                <a:solidFill>
                  <a:srgbClr val="9898D8"/>
                </a:solidFill>
                <a:latin typeface="Arial MT"/>
                <a:cs typeface="Arial MT"/>
                <a:hlinkClick r:id="rId5" action="ppaction://hlinksldjump"/>
              </a:rPr>
              <a:t>Requisitos</a:t>
            </a:r>
            <a:r>
              <a:rPr sz="600" spc="500">
                <a:solidFill>
                  <a:srgbClr val="9898D8"/>
                </a:solidFill>
                <a:latin typeface="Arial MT"/>
                <a:cs typeface="Arial MT"/>
              </a:rPr>
              <a:t> </a:t>
            </a:r>
            <a:r>
              <a:rPr sz="600" spc="-2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Tecnologias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362786"/>
            <a:ext cx="4608060" cy="3005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5948" y="349476"/>
            <a:ext cx="17964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>
                <a:solidFill>
                  <a:srgbClr val="FFFFFF"/>
                </a:solidFill>
                <a:latin typeface="Arial MT"/>
                <a:cs typeface="Arial MT"/>
              </a:rPr>
              <a:t>Tecnologias</a:t>
            </a:r>
            <a:r>
              <a:rPr sz="14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utilizadas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226648" y="590"/>
            <a:ext cx="378219" cy="360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5683" y="824414"/>
            <a:ext cx="76809" cy="7680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3073" y="724509"/>
            <a:ext cx="3238339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1100" b="1" spc="-10" err="1"/>
              <a:t>Tecnologias</a:t>
            </a:r>
            <a:r>
              <a:rPr lang="en-US" sz="1100" b="1" spc="-10"/>
              <a:t>:</a:t>
            </a:r>
            <a:r>
              <a:rPr lang="en-US" sz="1100" spc="-10"/>
              <a:t> HTML + CSS + JavaScript</a:t>
            </a:r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0" y="3312071"/>
            <a:ext cx="4608195" cy="144145"/>
            <a:chOff x="0" y="3312071"/>
            <a:chExt cx="4608195" cy="144145"/>
          </a:xfrm>
        </p:grpSpPr>
        <p:sp>
          <p:nvSpPr>
            <p:cNvPr id="11" name="object 11"/>
            <p:cNvSpPr/>
            <p:nvPr/>
          </p:nvSpPr>
          <p:spPr>
            <a:xfrm>
              <a:off x="0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 anchor="t"/>
            <a:lstStyle/>
            <a:p>
              <a:endParaRPr/>
            </a:p>
          </p:txBody>
        </p:sp>
      </p:grpSp>
      <p:sp>
        <p:nvSpPr>
          <p:cNvPr id="16" name="object 14">
            <a:extLst>
              <a:ext uri="{FF2B5EF4-FFF2-40B4-BE49-F238E27FC236}">
                <a16:creationId xmlns:a16="http://schemas.microsoft.com/office/drawing/2014/main" id="{8C88DD26-89C7-87D3-A851-104CDC10A13C}"/>
              </a:ext>
            </a:extLst>
          </p:cNvPr>
          <p:cNvSpPr txBox="1">
            <a:spLocks/>
          </p:cNvSpPr>
          <p:nvPr/>
        </p:nvSpPr>
        <p:spPr>
          <a:xfrm>
            <a:off x="492951" y="3326286"/>
            <a:ext cx="1449584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>
            <a:defPPr>
              <a:defRPr kern="0"/>
            </a:defPPr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algn="ctr"/>
            <a:r>
              <a:rPr lang="pt-BR" spc="-60"/>
              <a:t>Bruno, Carlos, Elias, Jennifer e Simone</a:t>
            </a:r>
            <a:endParaRPr lang="pt-BR" spc="-60">
              <a:solidFill>
                <a:srgbClr val="000000"/>
              </a:solidFill>
            </a:endParaRPr>
          </a:p>
          <a:p>
            <a:pPr marL="12700">
              <a:spcBef>
                <a:spcPts val="70"/>
              </a:spcBef>
            </a:pPr>
            <a:endParaRPr lang="pt-BR" spc="-60"/>
          </a:p>
        </p:txBody>
      </p:sp>
      <p:sp>
        <p:nvSpPr>
          <p:cNvPr id="30" name="object 15">
            <a:extLst>
              <a:ext uri="{FF2B5EF4-FFF2-40B4-BE49-F238E27FC236}">
                <a16:creationId xmlns:a16="http://schemas.microsoft.com/office/drawing/2014/main" id="{6C69C329-A151-4C45-00AF-A5D0AFE972D0}"/>
              </a:ext>
            </a:extLst>
          </p:cNvPr>
          <p:cNvSpPr txBox="1"/>
          <p:nvPr/>
        </p:nvSpPr>
        <p:spPr>
          <a:xfrm>
            <a:off x="3061944" y="3330939"/>
            <a:ext cx="818021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z="600" spc="-10" err="1">
                <a:solidFill>
                  <a:srgbClr val="FFFFFF"/>
                </a:solidFill>
                <a:latin typeface="Arial MT"/>
              </a:rPr>
              <a:t>LêUai</a:t>
            </a:r>
            <a:r>
              <a:rPr lang="pt-BR" sz="600" spc="-10">
                <a:solidFill>
                  <a:srgbClr val="FFFFFF"/>
                </a:solidFill>
                <a:latin typeface="Arial MT"/>
              </a:rPr>
              <a:t> - </a:t>
            </a:r>
            <a:r>
              <a:rPr lang="pt-BR" sz="600" spc="-10">
                <a:solidFill>
                  <a:srgbClr val="FFFFFF"/>
                </a:solidFill>
                <a:latin typeface="Arial MT"/>
                <a:ea typeface="Calibri"/>
                <a:cs typeface="Calibri"/>
              </a:rPr>
              <a:t>Biblioteca Virtual </a:t>
            </a:r>
            <a:endParaRPr lang="en-US" sz="600" spc="-10">
              <a:solidFill>
                <a:srgbClr val="000000"/>
              </a:solidFill>
              <a:latin typeface="Arial MT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z="600" spc="-10">
              <a:solidFill>
                <a:srgbClr val="FFFFFF"/>
              </a:solidFill>
              <a:latin typeface="Arial MT"/>
              <a:cs typeface="Arial MT"/>
            </a:endParaRPr>
          </a:p>
        </p:txBody>
      </p:sp>
      <p:pic>
        <p:nvPicPr>
          <p:cNvPr id="31" name="object 8">
            <a:extLst>
              <a:ext uri="{FF2B5EF4-FFF2-40B4-BE49-F238E27FC236}">
                <a16:creationId xmlns:a16="http://schemas.microsoft.com/office/drawing/2014/main" id="{3B9B3D4F-A19F-57A2-F848-B680B352385C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5655" y="1062384"/>
            <a:ext cx="76809" cy="76809"/>
          </a:xfrm>
          <a:prstGeom prst="rect">
            <a:avLst/>
          </a:prstGeom>
        </p:spPr>
      </p:pic>
      <p:pic>
        <p:nvPicPr>
          <p:cNvPr id="32" name="object 8">
            <a:extLst>
              <a:ext uri="{FF2B5EF4-FFF2-40B4-BE49-F238E27FC236}">
                <a16:creationId xmlns:a16="http://schemas.microsoft.com/office/drawing/2014/main" id="{C9C58D07-F406-E99F-97B5-58154E84077E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5641" y="1776296"/>
            <a:ext cx="76809" cy="76809"/>
          </a:xfrm>
          <a:prstGeom prst="rect">
            <a:avLst/>
          </a:prstGeom>
        </p:spPr>
      </p:pic>
      <p:pic>
        <p:nvPicPr>
          <p:cNvPr id="33" name="object 8">
            <a:extLst>
              <a:ext uri="{FF2B5EF4-FFF2-40B4-BE49-F238E27FC236}">
                <a16:creationId xmlns:a16="http://schemas.microsoft.com/office/drawing/2014/main" id="{58386BDF-CC80-5F47-D9CA-8E88C1EE1953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5627" y="2546202"/>
            <a:ext cx="76809" cy="76809"/>
          </a:xfrm>
          <a:prstGeom prst="rect">
            <a:avLst/>
          </a:prstGeom>
        </p:spPr>
      </p:pic>
      <p:sp>
        <p:nvSpPr>
          <p:cNvPr id="34" name="object 9">
            <a:extLst>
              <a:ext uri="{FF2B5EF4-FFF2-40B4-BE49-F238E27FC236}">
                <a16:creationId xmlns:a16="http://schemas.microsoft.com/office/drawing/2014/main" id="{896CC7CC-8558-9257-1C1E-9400D80EF0D7}"/>
              </a:ext>
            </a:extLst>
          </p:cNvPr>
          <p:cNvSpPr txBox="1"/>
          <p:nvPr/>
        </p:nvSpPr>
        <p:spPr>
          <a:xfrm>
            <a:off x="223037" y="1004474"/>
            <a:ext cx="3238339" cy="1635063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1100" b="1" spc="-10"/>
              <a:t>HTML</a:t>
            </a:r>
          </a:p>
          <a:p>
            <a:pPr marL="171450" indent="-171450" algn="l">
              <a:buFont typeface="Arial"/>
              <a:buChar char="•"/>
            </a:pPr>
            <a:r>
              <a:rPr lang="en-US" sz="900" spc="-10"/>
              <a:t>Uso de Tags </a:t>
            </a:r>
            <a:r>
              <a:rPr lang="en-US" sz="900" spc="-10" err="1"/>
              <a:t>Semânticas</a:t>
            </a:r>
          </a:p>
          <a:p>
            <a:pPr marL="171450" indent="-171450" algn="l">
              <a:buFont typeface="Arial"/>
              <a:buChar char="•"/>
            </a:pPr>
            <a:r>
              <a:rPr lang="en-US" sz="900" spc="-10" err="1"/>
              <a:t>Estrutura</a:t>
            </a:r>
            <a:r>
              <a:rPr lang="en-US" sz="900" spc="-10"/>
              <a:t> Modular com </a:t>
            </a:r>
            <a:r>
              <a:rPr lang="en-US" sz="900" spc="-10" err="1"/>
              <a:t>Multiplas</a:t>
            </a:r>
            <a:r>
              <a:rPr lang="en-US" sz="900" spc="-10"/>
              <a:t> </a:t>
            </a:r>
            <a:r>
              <a:rPr lang="en-US" sz="900" spc="-10" err="1"/>
              <a:t>Páginas</a:t>
            </a:r>
            <a:endParaRPr lang="en-US" sz="900" spc="-10"/>
          </a:p>
          <a:p>
            <a:pPr marL="171450" indent="-171450" algn="l">
              <a:buFont typeface="Arial"/>
              <a:buChar char="•"/>
            </a:pPr>
            <a:r>
              <a:rPr lang="en-US" sz="900" spc="-10" err="1"/>
              <a:t>Integração</a:t>
            </a:r>
            <a:r>
              <a:rPr lang="en-US" sz="900" spc="-10"/>
              <a:t> com CSS e JavaScript</a:t>
            </a:r>
            <a:endParaRPr lang="en-US" sz="900"/>
          </a:p>
          <a:p>
            <a:pPr marL="12700">
              <a:spcBef>
                <a:spcPts val="90"/>
              </a:spcBef>
            </a:pPr>
            <a:endParaRPr lang="en-US" sz="900" spc="-10"/>
          </a:p>
          <a:p>
            <a:pPr marL="12700">
              <a:spcBef>
                <a:spcPts val="90"/>
              </a:spcBef>
            </a:pPr>
            <a:endParaRPr lang="en-US" sz="900" spc="-10"/>
          </a:p>
          <a:p>
            <a:pPr marL="171450" indent="-171450" algn="l">
              <a:buFont typeface="Arial"/>
              <a:buChar char="•"/>
            </a:pPr>
            <a:r>
              <a:rPr lang="en-US" sz="900" spc="-10"/>
              <a:t>Uso de Flexbox para Layouts Responsivos</a:t>
            </a:r>
          </a:p>
          <a:p>
            <a:pPr marL="171450" indent="-171450" algn="l">
              <a:buFont typeface="Arial"/>
              <a:buChar char="•"/>
            </a:pPr>
            <a:r>
              <a:rPr lang="en-US" sz="900" spc="-10" err="1"/>
              <a:t>Estilização</a:t>
            </a:r>
            <a:r>
              <a:rPr lang="en-US" sz="900" spc="-10"/>
              <a:t> de </a:t>
            </a:r>
            <a:r>
              <a:rPr lang="en-US" sz="900" spc="-10" err="1"/>
              <a:t>Elementos</a:t>
            </a:r>
            <a:r>
              <a:rPr lang="en-US" sz="900" spc="-10"/>
              <a:t> </a:t>
            </a:r>
            <a:r>
              <a:rPr lang="en-US" sz="900" spc="-10" err="1"/>
              <a:t>Interativos</a:t>
            </a:r>
            <a:endParaRPr lang="en-US" sz="900" spc="-10"/>
          </a:p>
          <a:p>
            <a:pPr marL="171450" indent="-171450" algn="l">
              <a:buFont typeface="Arial"/>
              <a:buChar char="•"/>
            </a:pPr>
            <a:r>
              <a:rPr lang="en-US" sz="900" spc="-10"/>
              <a:t>Media Queries</a:t>
            </a:r>
          </a:p>
          <a:p>
            <a:pPr algn="l"/>
            <a:endParaRPr lang="en-US" sz="900" spc="-10"/>
          </a:p>
          <a:p>
            <a:pPr marL="12700">
              <a:spcBef>
                <a:spcPts val="90"/>
              </a:spcBef>
            </a:pPr>
            <a:endParaRPr lang="en-US" sz="1100" spc="-10"/>
          </a:p>
        </p:txBody>
      </p:sp>
      <p:sp>
        <p:nvSpPr>
          <p:cNvPr id="35" name="object 9">
            <a:extLst>
              <a:ext uri="{FF2B5EF4-FFF2-40B4-BE49-F238E27FC236}">
                <a16:creationId xmlns:a16="http://schemas.microsoft.com/office/drawing/2014/main" id="{28F07919-765C-0EEA-E640-1B2635664E0C}"/>
              </a:ext>
            </a:extLst>
          </p:cNvPr>
          <p:cNvSpPr txBox="1"/>
          <p:nvPr/>
        </p:nvSpPr>
        <p:spPr>
          <a:xfrm>
            <a:off x="223024" y="1723052"/>
            <a:ext cx="3238339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1100" b="1" spc="-10"/>
              <a:t>CSS</a:t>
            </a:r>
            <a:endParaRPr/>
          </a:p>
        </p:txBody>
      </p:sp>
      <p:sp>
        <p:nvSpPr>
          <p:cNvPr id="36" name="object 9">
            <a:extLst>
              <a:ext uri="{FF2B5EF4-FFF2-40B4-BE49-F238E27FC236}">
                <a16:creationId xmlns:a16="http://schemas.microsoft.com/office/drawing/2014/main" id="{A2BB1FD5-A534-EC87-4708-CD328AE5DD3A}"/>
              </a:ext>
            </a:extLst>
          </p:cNvPr>
          <p:cNvSpPr txBox="1"/>
          <p:nvPr/>
        </p:nvSpPr>
        <p:spPr>
          <a:xfrm>
            <a:off x="223010" y="2469627"/>
            <a:ext cx="3770812" cy="778418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spcBef>
                <a:spcPts val="90"/>
              </a:spcBef>
            </a:pPr>
            <a:r>
              <a:rPr lang="en-US" sz="1100" b="1" spc="-10"/>
              <a:t>JavaScript</a:t>
            </a:r>
          </a:p>
          <a:p>
            <a:pPr marL="171450" indent="-171450" algn="l">
              <a:buFont typeface="Arial"/>
              <a:buChar char="•"/>
            </a:pPr>
            <a:r>
              <a:rPr lang="en-US" sz="900" spc="-10" err="1">
                <a:latin typeface="Calibri"/>
                <a:ea typeface="Calibri"/>
                <a:cs typeface="Calibri"/>
              </a:rPr>
              <a:t>Gerenciamento</a:t>
            </a:r>
            <a:r>
              <a:rPr lang="en-US" sz="900" spc="-10">
                <a:latin typeface="Calibri"/>
                <a:ea typeface="Calibri"/>
                <a:cs typeface="Calibri"/>
              </a:rPr>
              <a:t> de Dados </a:t>
            </a:r>
            <a:r>
              <a:rPr lang="en-US" sz="900" spc="-10" err="1">
                <a:latin typeface="Calibri"/>
                <a:ea typeface="Calibri"/>
                <a:cs typeface="Calibri"/>
              </a:rPr>
              <a:t>Locais</a:t>
            </a:r>
            <a:r>
              <a:rPr lang="en-US" sz="900" spc="-10">
                <a:latin typeface="Calibri"/>
                <a:ea typeface="Calibri"/>
                <a:cs typeface="Calibri"/>
              </a:rPr>
              <a:t> (Banco de Dados Virtual)</a:t>
            </a:r>
            <a:endParaRPr lang="en-US" sz="900" spc="-10"/>
          </a:p>
          <a:p>
            <a:pPr marL="171450" indent="-171450" algn="l">
              <a:buFont typeface="Arial"/>
              <a:buChar char="•"/>
            </a:pPr>
            <a:r>
              <a:rPr lang="en-US" sz="900" spc="-10" err="1"/>
              <a:t>Manipulação</a:t>
            </a:r>
            <a:r>
              <a:rPr lang="en-US" sz="900" spc="-10"/>
              <a:t> do DOM</a:t>
            </a:r>
            <a:endParaRPr lang="en-US"/>
          </a:p>
          <a:p>
            <a:pPr marL="171450" indent="-171450" algn="l">
              <a:buFont typeface="Arial"/>
              <a:buChar char="•"/>
            </a:pPr>
            <a:r>
              <a:rPr lang="en-US" sz="900" spc="-10" err="1"/>
              <a:t>Funções</a:t>
            </a:r>
            <a:r>
              <a:rPr lang="en-US" sz="900" spc="-10"/>
              <a:t> de </a:t>
            </a:r>
            <a:r>
              <a:rPr lang="en-US" sz="900" spc="-10" err="1"/>
              <a:t>Navegação</a:t>
            </a:r>
            <a:r>
              <a:rPr lang="en-US" sz="900" spc="-10"/>
              <a:t> e </a:t>
            </a:r>
            <a:r>
              <a:rPr lang="en-US" sz="900" spc="-10" err="1"/>
              <a:t>Utilitários</a:t>
            </a:r>
            <a:endParaRPr lang="en-US" sz="900" spc="-10"/>
          </a:p>
          <a:p>
            <a:pPr marL="12700">
              <a:spcBef>
                <a:spcPts val="90"/>
              </a:spcBef>
            </a:pPr>
            <a:endParaRPr lang="en-US" sz="1100" spc="-1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54657" y="-16363"/>
            <a:ext cx="654685" cy="33502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248920" algn="r">
              <a:lnSpc>
                <a:spcPct val="119700"/>
              </a:lnSpc>
              <a:spcBef>
                <a:spcPts val="100"/>
              </a:spcBef>
            </a:pPr>
            <a:r>
              <a:rPr lang="pt-BR" sz="600" spc="-10">
                <a:solidFill>
                  <a:srgbClr val="7F7F7F"/>
                </a:solidFill>
                <a:latin typeface="Arial MT"/>
                <a:cs typeface="Arial MT"/>
                <a:hlinkClick r:id="rId2" action="ppaction://hlinksldjump"/>
              </a:rPr>
              <a:t>Introdução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Projeto</a:t>
            </a:r>
            <a:r>
              <a:rPr sz="600" spc="-25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do</a:t>
            </a:r>
            <a:r>
              <a:rPr sz="600" spc="-2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 </a:t>
            </a:r>
            <a:r>
              <a:rPr sz="600" spc="-10">
                <a:solidFill>
                  <a:srgbClr val="7F7F7F"/>
                </a:solidFill>
                <a:latin typeface="Arial MT"/>
                <a:cs typeface="Arial MT"/>
                <a:hlinkClick r:id="" action="ppaction://noaction"/>
              </a:rPr>
              <a:t>sistema</a:t>
            </a:r>
            <a:r>
              <a:rPr sz="600" spc="50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lang="en-US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Desenvolvimento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363220"/>
          </a:xfrm>
          <a:custGeom>
            <a:avLst/>
            <a:gdLst/>
            <a:ahLst/>
            <a:cxnLst/>
            <a:rect l="l" t="t" r="r" b="b"/>
            <a:pathLst>
              <a:path w="2304415" h="363220">
                <a:moveTo>
                  <a:pt x="2303995" y="0"/>
                </a:moveTo>
                <a:lnTo>
                  <a:pt x="0" y="0"/>
                </a:lnTo>
                <a:lnTo>
                  <a:pt x="0" y="362788"/>
                </a:lnTo>
                <a:lnTo>
                  <a:pt x="2303995" y="362788"/>
                </a:lnTo>
                <a:lnTo>
                  <a:pt x="230399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99296" y="-16363"/>
            <a:ext cx="498475" cy="335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9700"/>
              </a:lnSpc>
              <a:spcBef>
                <a:spcPts val="100"/>
              </a:spcBef>
            </a:pPr>
            <a:r>
              <a:rPr lang="en-US" sz="600">
                <a:solidFill>
                  <a:srgbClr val="9898D8"/>
                </a:solidFill>
                <a:latin typeface="Arial MT"/>
                <a:cs typeface="Arial MT"/>
                <a:hlinkClick r:id="rId3" action="ppaction://hlinksldjump"/>
              </a:rPr>
              <a:t>Fluxo</a:t>
            </a:r>
            <a:r>
              <a:rPr lang="en-US" sz="600" spc="-20">
                <a:solidFill>
                  <a:srgbClr val="9898D8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lang="en-US" sz="600">
                <a:solidFill>
                  <a:srgbClr val="9898D8"/>
                </a:solidFill>
                <a:latin typeface="Arial MT"/>
                <a:cs typeface="Arial MT"/>
                <a:hlinkClick r:id="rId3" action="ppaction://hlinksldjump"/>
              </a:rPr>
              <a:t>de</a:t>
            </a:r>
            <a:r>
              <a:rPr lang="en-US" sz="600" spc="-20">
                <a:solidFill>
                  <a:srgbClr val="9898D8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lang="en-US" sz="600" spc="-10">
                <a:solidFill>
                  <a:srgbClr val="9898D8"/>
                </a:solidFill>
                <a:latin typeface="Arial MT"/>
                <a:cs typeface="Arial MT"/>
                <a:hlinkClick r:id="rId3" action="ppaction://hlinksldjump"/>
              </a:rPr>
              <a:t>telas</a:t>
            </a:r>
            <a:r>
              <a:rPr sz="600" spc="500">
                <a:solidFill>
                  <a:srgbClr val="9898D8"/>
                </a:solidFill>
                <a:latin typeface="Arial MT"/>
                <a:cs typeface="Arial MT"/>
              </a:rPr>
              <a:t> </a:t>
            </a:r>
            <a:r>
              <a:rPr sz="600" spc="-10">
                <a:solidFill>
                  <a:srgbClr val="9898D8"/>
                </a:solidFill>
                <a:latin typeface="Arial MT"/>
                <a:cs typeface="Arial MT"/>
                <a:hlinkClick r:id="" action="ppaction://noaction"/>
              </a:rPr>
              <a:t>Testes</a:t>
            </a:r>
            <a:r>
              <a:rPr sz="600" spc="500">
                <a:solidFill>
                  <a:srgbClr val="9898D8"/>
                </a:solidFill>
                <a:latin typeface="Arial MT"/>
                <a:cs typeface="Arial MT"/>
              </a:rPr>
              <a:t> </a:t>
            </a:r>
            <a:r>
              <a:rPr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Conclusão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362786"/>
            <a:ext cx="4608060" cy="3005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5948" y="368148"/>
            <a:ext cx="206448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>
                <a:solidFill>
                  <a:srgbClr val="FFFFFF"/>
                </a:solidFill>
                <a:latin typeface="Arial MT"/>
                <a:cs typeface="Arial MT"/>
              </a:rPr>
              <a:t>Conclusão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26648" y="590"/>
            <a:ext cx="378219" cy="360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3014" y="1006358"/>
            <a:ext cx="76809" cy="7680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14401" y="895351"/>
            <a:ext cx="3854258" cy="779058"/>
          </a:xfrm>
          <a:prstGeom prst="rect">
            <a:avLst/>
          </a:prstGeom>
        </p:spPr>
        <p:txBody>
          <a:bodyPr vert="horz" wrap="square" lIns="0" tIns="55244" rIns="0" bIns="0" rtlCol="0" anchor="t">
            <a:spAutoFit/>
          </a:bodyPr>
          <a:lstStyle/>
          <a:p>
            <a:pPr marL="12700">
              <a:spcBef>
                <a:spcPts val="434"/>
              </a:spcBef>
            </a:pPr>
            <a:r>
              <a:rPr lang="en-US" sz="1100" spc="-10">
                <a:latin typeface="Arial MT"/>
              </a:rPr>
              <a:t>O </a:t>
            </a:r>
            <a:r>
              <a:rPr lang="en-US" sz="1100" spc="-10" err="1">
                <a:latin typeface="Arial MT"/>
              </a:rPr>
              <a:t>desenvolvimento</a:t>
            </a:r>
            <a:r>
              <a:rPr lang="en-US" sz="1100" spc="-10">
                <a:latin typeface="Arial MT"/>
              </a:rPr>
              <a:t> da </a:t>
            </a:r>
            <a:r>
              <a:rPr lang="en-US" sz="1100" i="1" spc="-10">
                <a:latin typeface="Arial MT"/>
              </a:rPr>
              <a:t>Biblioteca </a:t>
            </a:r>
            <a:r>
              <a:rPr lang="en-US" sz="1100" i="1" spc="-10" err="1">
                <a:latin typeface="Arial MT"/>
              </a:rPr>
              <a:t>LêUai</a:t>
            </a:r>
            <a:r>
              <a:rPr lang="en-US" sz="1100" spc="-10">
                <a:latin typeface="Arial MT"/>
              </a:rPr>
              <a:t> </a:t>
            </a:r>
            <a:r>
              <a:rPr lang="en-US" sz="1100" spc="-10" err="1">
                <a:latin typeface="Arial MT"/>
              </a:rPr>
              <a:t>permitiu</a:t>
            </a:r>
            <a:r>
              <a:rPr lang="en-US" sz="1100" spc="-10">
                <a:latin typeface="Arial MT"/>
              </a:rPr>
              <a:t> </a:t>
            </a:r>
            <a:r>
              <a:rPr lang="en-US" sz="1100" spc="-10" err="1">
                <a:latin typeface="Arial MT"/>
              </a:rPr>
              <a:t>criar</a:t>
            </a:r>
            <a:r>
              <a:rPr lang="en-US" sz="1100" spc="-10">
                <a:latin typeface="Arial MT"/>
              </a:rPr>
              <a:t> </a:t>
            </a:r>
            <a:r>
              <a:rPr lang="en-US" sz="1100" spc="-10" err="1">
                <a:latin typeface="Arial MT"/>
              </a:rPr>
              <a:t>uma</a:t>
            </a:r>
            <a:r>
              <a:rPr lang="en-US" sz="1100" spc="-10">
                <a:latin typeface="Arial MT"/>
              </a:rPr>
              <a:t> </a:t>
            </a:r>
            <a:r>
              <a:rPr lang="en-US" sz="1100" spc="-10" err="1">
                <a:latin typeface="Arial MT"/>
              </a:rPr>
              <a:t>solução</a:t>
            </a:r>
            <a:r>
              <a:rPr lang="en-US" sz="1100" spc="-10">
                <a:latin typeface="Arial MT"/>
              </a:rPr>
              <a:t> </a:t>
            </a:r>
            <a:r>
              <a:rPr lang="en-US" sz="1100" spc="-10" err="1">
                <a:latin typeface="Arial MT"/>
              </a:rPr>
              <a:t>prática</a:t>
            </a:r>
            <a:r>
              <a:rPr lang="en-US" sz="1100" spc="-10">
                <a:latin typeface="Arial MT"/>
              </a:rPr>
              <a:t> para</a:t>
            </a:r>
            <a:r>
              <a:rPr lang="en-US" sz="1100" spc="-10">
                <a:solidFill>
                  <a:schemeClr val="tx1"/>
                </a:solidFill>
                <a:latin typeface="Arial MT"/>
              </a:rPr>
              <a:t> </a:t>
            </a:r>
            <a:r>
              <a:rPr lang="en-US" sz="1100" spc="-10" err="1">
                <a:solidFill>
                  <a:schemeClr val="tx1"/>
                </a:solidFill>
                <a:latin typeface="Arial MT"/>
              </a:rPr>
              <a:t>usuários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 </a:t>
            </a:r>
            <a:r>
              <a:rPr lang="en-US" sz="1200" spc="-10" err="1">
                <a:solidFill>
                  <a:schemeClr val="tx1"/>
                </a:solidFill>
                <a:latin typeface="Arial MT"/>
              </a:rPr>
              <a:t>consultarem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 o </a:t>
            </a:r>
            <a:r>
              <a:rPr lang="en-US" sz="1200" spc="-10" err="1">
                <a:solidFill>
                  <a:schemeClr val="tx1"/>
                </a:solidFill>
                <a:latin typeface="Arial MT"/>
              </a:rPr>
              <a:t>catálogo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 de </a:t>
            </a:r>
            <a:r>
              <a:rPr lang="en-US" sz="1200" spc="-10" err="1">
                <a:solidFill>
                  <a:schemeClr val="tx1"/>
                </a:solidFill>
                <a:latin typeface="Arial MT"/>
              </a:rPr>
              <a:t>livros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, </a:t>
            </a:r>
            <a:r>
              <a:rPr lang="en-US" sz="1200" spc="-10" err="1">
                <a:solidFill>
                  <a:schemeClr val="tx1"/>
                </a:solidFill>
                <a:latin typeface="Arial MT"/>
              </a:rPr>
              <a:t>verificar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 a </a:t>
            </a:r>
            <a:r>
              <a:rPr lang="en-US" sz="1200" spc="-10" err="1">
                <a:solidFill>
                  <a:schemeClr val="tx1"/>
                </a:solidFill>
                <a:latin typeface="Arial MT"/>
              </a:rPr>
              <a:t>disponibilidade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 de </a:t>
            </a:r>
            <a:r>
              <a:rPr lang="en-US" sz="1200" spc="-10" err="1">
                <a:solidFill>
                  <a:schemeClr val="tx1"/>
                </a:solidFill>
                <a:latin typeface="Arial MT"/>
              </a:rPr>
              <a:t>obras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 e </a:t>
            </a:r>
            <a:r>
              <a:rPr lang="en-US" sz="1200" spc="-10" err="1">
                <a:solidFill>
                  <a:schemeClr val="tx1"/>
                </a:solidFill>
                <a:latin typeface="Arial MT"/>
              </a:rPr>
              <a:t>acessar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 </a:t>
            </a:r>
            <a:r>
              <a:rPr lang="en-US" sz="1200" spc="-10" err="1">
                <a:solidFill>
                  <a:schemeClr val="tx1"/>
                </a:solidFill>
                <a:latin typeface="Arial MT"/>
              </a:rPr>
              <a:t>informações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 de forma </a:t>
            </a:r>
            <a:r>
              <a:rPr lang="en-US" sz="1200" spc="-10" err="1">
                <a:solidFill>
                  <a:schemeClr val="tx1"/>
                </a:solidFill>
                <a:latin typeface="Arial MT"/>
              </a:rPr>
              <a:t>rápida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 e </a:t>
            </a:r>
            <a:r>
              <a:rPr lang="en-US" sz="1200" spc="-10" err="1">
                <a:solidFill>
                  <a:schemeClr val="tx1"/>
                </a:solidFill>
                <a:latin typeface="Arial MT"/>
              </a:rPr>
              <a:t>prática</a:t>
            </a:r>
            <a:r>
              <a:rPr lang="en-US" sz="1200" spc="-10">
                <a:solidFill>
                  <a:schemeClr val="tx1"/>
                </a:solidFill>
                <a:latin typeface="Arial MT"/>
              </a:rPr>
              <a:t> pela internet.</a:t>
            </a:r>
            <a:endParaRPr lang="en-US" sz="1100" spc="-10">
              <a:solidFill>
                <a:schemeClr val="tx1"/>
              </a:solidFill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3014" y="2882188"/>
            <a:ext cx="76809" cy="7680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12071"/>
            <a:ext cx="4608195" cy="144145"/>
            <a:chOff x="0" y="3312071"/>
            <a:chExt cx="4608195" cy="144145"/>
          </a:xfrm>
        </p:grpSpPr>
        <p:sp>
          <p:nvSpPr>
            <p:cNvPr id="12" name="object 12"/>
            <p:cNvSpPr/>
            <p:nvPr/>
          </p:nvSpPr>
          <p:spPr>
            <a:xfrm>
              <a:off x="0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12071"/>
              <a:ext cx="2304415" cy="144145"/>
            </a:xfrm>
            <a:custGeom>
              <a:avLst/>
              <a:gdLst/>
              <a:ahLst/>
              <a:cxnLst/>
              <a:rect l="l" t="t" r="r" b="b"/>
              <a:pathLst>
                <a:path w="2304415" h="144145">
                  <a:moveTo>
                    <a:pt x="2303995" y="0"/>
                  </a:moveTo>
                  <a:lnTo>
                    <a:pt x="0" y="0"/>
                  </a:lnTo>
                  <a:lnTo>
                    <a:pt x="0" y="143929"/>
                  </a:lnTo>
                  <a:lnTo>
                    <a:pt x="2303995" y="143929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492951" y="3326286"/>
            <a:ext cx="1449584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ctr"/>
            <a:r>
              <a:rPr lang="pt-BR" spc="-60"/>
              <a:t>Bruno, Carlos, Elias, Jennifer e Simone</a:t>
            </a:r>
            <a:endParaRPr lang="en-US" spc="-60">
              <a:solidFill>
                <a:srgbClr val="000000"/>
              </a:solidFill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pc="-60"/>
          </a:p>
        </p:txBody>
      </p:sp>
      <p:sp>
        <p:nvSpPr>
          <p:cNvPr id="15" name="object 15"/>
          <p:cNvSpPr txBox="1"/>
          <p:nvPr/>
        </p:nvSpPr>
        <p:spPr>
          <a:xfrm>
            <a:off x="3061944" y="3330939"/>
            <a:ext cx="818021" cy="206467"/>
          </a:xfrm>
          <a:prstGeom prst="rect">
            <a:avLst/>
          </a:prstGeom>
        </p:spPr>
        <p:txBody>
          <a:bodyPr vert="horz" wrap="square" lIns="0" tIns="8890" rIns="0" bIns="0" rtlCol="0" anchor="t">
            <a:spAutoFit/>
          </a:bodyPr>
          <a:lstStyle/>
          <a:p>
            <a:pPr algn="l"/>
            <a:r>
              <a:rPr lang="pt-BR" sz="600" spc="-10" err="1">
                <a:solidFill>
                  <a:srgbClr val="FFFFFF"/>
                </a:solidFill>
                <a:latin typeface="Arial MT"/>
              </a:rPr>
              <a:t>LêUai</a:t>
            </a:r>
            <a:r>
              <a:rPr lang="pt-BR" sz="600" spc="-10">
                <a:solidFill>
                  <a:srgbClr val="FFFFFF"/>
                </a:solidFill>
                <a:latin typeface="Arial MT"/>
              </a:rPr>
              <a:t> - </a:t>
            </a:r>
            <a:r>
              <a:rPr lang="pt-BR" sz="600" spc="-10">
                <a:solidFill>
                  <a:srgbClr val="FFFFFF"/>
                </a:solidFill>
                <a:latin typeface="Arial MT"/>
                <a:ea typeface="Calibri"/>
                <a:cs typeface="Calibri"/>
              </a:rPr>
              <a:t>Biblioteca Virtual </a:t>
            </a:r>
            <a:endParaRPr lang="en-US" sz="600" spc="-10">
              <a:solidFill>
                <a:srgbClr val="000000"/>
              </a:solidFill>
              <a:latin typeface="Arial MT"/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endParaRPr sz="600" spc="-10">
              <a:solidFill>
                <a:srgbClr val="FFFFFF"/>
              </a:solidFill>
              <a:latin typeface="Arial MT"/>
              <a:cs typeface="Arial MT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836B771-3A53-A3E7-FAC1-E0AAE5520CA5}"/>
              </a:ext>
            </a:extLst>
          </p:cNvPr>
          <p:cNvSpPr txBox="1"/>
          <p:nvPr/>
        </p:nvSpPr>
        <p:spPr>
          <a:xfrm>
            <a:off x="331214" y="2780246"/>
            <a:ext cx="286087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100">
                <a:latin typeface="Arial MT"/>
              </a:rPr>
              <a:t>Em instantes, nosso sistema de forma visual!...</a:t>
            </a:r>
          </a:p>
          <a:p>
            <a:pPr algn="ctr"/>
            <a:endParaRPr lang="pt-BR"/>
          </a:p>
        </p:txBody>
      </p:sp>
      <p:pic>
        <p:nvPicPr>
          <p:cNvPr id="17" name="object 10">
            <a:extLst>
              <a:ext uri="{FF2B5EF4-FFF2-40B4-BE49-F238E27FC236}">
                <a16:creationId xmlns:a16="http://schemas.microsoft.com/office/drawing/2014/main" id="{80849FA8-5A7C-AA04-6890-782B40E0EC43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2968" y="2060953"/>
            <a:ext cx="76809" cy="76809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3CB41147-7F65-7FE0-8531-19DAFD164C76}"/>
              </a:ext>
            </a:extLst>
          </p:cNvPr>
          <p:cNvSpPr txBox="1"/>
          <p:nvPr/>
        </p:nvSpPr>
        <p:spPr>
          <a:xfrm>
            <a:off x="331160" y="1959014"/>
            <a:ext cx="4318174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100">
                <a:latin typeface="Arial MT"/>
              </a:rPr>
              <a:t>Ideias futuras de trabalho: Back-</a:t>
            </a:r>
            <a:r>
              <a:rPr lang="pt-BR" sz="1100" err="1">
                <a:latin typeface="Arial MT"/>
              </a:rPr>
              <a:t>end</a:t>
            </a:r>
            <a:r>
              <a:rPr lang="pt-BR" sz="1100">
                <a:latin typeface="Arial MT"/>
              </a:rPr>
              <a:t> e IA no "</a:t>
            </a:r>
            <a:r>
              <a:rPr lang="pt-BR" sz="1100" err="1">
                <a:latin typeface="Arial MT"/>
              </a:rPr>
              <a:t>LêUai</a:t>
            </a:r>
            <a:r>
              <a:rPr lang="pt-BR" sz="1100">
                <a:latin typeface="Arial MT"/>
              </a:rPr>
              <a:t>" e outra plataforma com a ideia de criar uma rede de conexões de usuários que propõe os eventos de networking.</a:t>
            </a:r>
            <a:endParaRPr lang="pt-BR" sz="1100">
              <a:solidFill>
                <a:srgbClr val="000000"/>
              </a:solidFill>
              <a:latin typeface="Arial MT"/>
            </a:endParaRPr>
          </a:p>
          <a:p>
            <a:pPr algn="ctr"/>
            <a:endParaRPr lang="pt-BR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5f37fe-8f8a-4d31-8f62-737ef4eac0c2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05155FBB9FA864884E398AA410B7C05" ma:contentTypeVersion="10" ma:contentTypeDescription="Crie um novo documento." ma:contentTypeScope="" ma:versionID="5ad9031b1fb17e22d279c4f851d36be0">
  <xsd:schema xmlns:xsd="http://www.w3.org/2001/XMLSchema" xmlns:xs="http://www.w3.org/2001/XMLSchema" xmlns:p="http://schemas.microsoft.com/office/2006/metadata/properties" xmlns:ns2="805f37fe-8f8a-4d31-8f62-737ef4eac0c2" targetNamespace="http://schemas.microsoft.com/office/2006/metadata/properties" ma:root="true" ma:fieldsID="33dfd21755ced07d06b8586f750e2815" ns2:_="">
    <xsd:import namespace="805f37fe-8f8a-4d31-8f62-737ef4eac0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5f37fe-8f8a-4d31-8f62-737ef4eac0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a3c6e446-f6e6-4b9f-9713-d8f03b62c6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AD75B8-4786-4336-B3DD-9F873E54021A}">
  <ds:schemaRefs>
    <ds:schemaRef ds:uri="805f37fe-8f8a-4d31-8f62-737ef4eac0c2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BF00FC5-39E7-45B7-89CA-AEE68D03F7E3}">
  <ds:schemaRefs>
    <ds:schemaRef ds:uri="805f37fe-8f8a-4d31-8f62-737ef4eac0c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58F86E6-ECFE-4280-9BD4-2A0A63CF9F8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Personalizar</PresentationFormat>
  <Slides>8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LêUai – Biblioteca Digital</vt:lpstr>
      <vt:lpstr>Sumário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seu projeto</dc:title>
  <dc:creator> Nome completo do aluno 1  Nome completo do aluno 2  Nome completo do aluno 3 [2mm] Prof. Nome do professor </dc:creator>
  <cp:revision>2</cp:revision>
  <dcterms:created xsi:type="dcterms:W3CDTF">2025-12-02T17:50:54Z</dcterms:created>
  <dcterms:modified xsi:type="dcterms:W3CDTF">2025-12-06T18:51:14Z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2025-12-02T00:00:00Z</vt:filetime>
  </property>
  <property fmtid="{D5CDD505-2E9C-101B-9397-08002B2CF9AE}" pid="5" name="PTEX.Fullbanner">
    <vt:lpwstr>This is MiKTeX-pdfTeX 4.13.0 (1.40.24)</vt:lpwstr>
  </property>
  <property fmtid="{D5CDD505-2E9C-101B-9397-08002B2CF9AE}" pid="6" name="Producer">
    <vt:lpwstr>MiKTeX pdfTeX-1.40.24</vt:lpwstr>
  </property>
  <property fmtid="{D5CDD505-2E9C-101B-9397-08002B2CF9AE}" pid="7" name="ContentTypeId">
    <vt:lpwstr>0x010100405155FBB9FA864884E398AA410B7C05</vt:lpwstr>
  </property>
  <property fmtid="{D5CDD505-2E9C-101B-9397-08002B2CF9AE}" pid="8" name="MediaServiceImageTags">
    <vt:lpwstr/>
  </property>
</Properties>
</file>